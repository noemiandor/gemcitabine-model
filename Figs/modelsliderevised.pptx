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9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4"/>
    <p:restoredTop sz="73061"/>
  </p:normalViewPr>
  <p:slideViewPr>
    <p:cSldViewPr snapToGrid="0">
      <p:cViewPr varScale="1">
        <p:scale>
          <a:sx n="92" d="100"/>
          <a:sy n="9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D9EB3-2442-104C-8C40-2AA91439AD07}" type="datetimeFigureOut">
              <a:rPr lang="en-US" smtClean="0"/>
              <a:t>5/31/23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BC38C-A85F-C840-83D1-773BAD8D8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5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FC93-D463-0991-B331-625F9E45E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F142D-672A-45C6-05AC-00D89E33F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DFA57-7ABA-1FDF-2F7F-40994A8A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6A813-167C-9D63-F5A6-CC76E5B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D2621-B5C3-EBC2-54A4-8E068BAE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1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9BA1-542C-E439-C5B2-813FE74D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B0E2-58F3-4C40-9C58-B2968797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6C1F2-2A13-2B4F-BEF4-715472096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3AD37-878F-1A2E-4CF0-47EDC775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B2F1F-7381-80B0-7760-F91F0757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8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254E-2EEC-154A-66CD-678A5249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5FFA2-9874-0B93-9340-21E5027AD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53DD2-B7ED-9B1C-A6D3-3F3C95732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B3D59-9CFF-A225-F15B-63F2DC27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DAF63-1C0D-CD60-8D6E-13BDCC97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0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9CB6-4691-7529-E432-C1FD477C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F52A7-EE26-81AB-2BD2-8CA747F23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02E3C-7171-326E-BF60-585D241B3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9F618-444B-5723-4862-9A817753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404B7-126D-6BAA-08BD-FA6EB6D5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6F9C2-19BB-AE72-1069-52C1A921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1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5D28-E784-2DEF-ADEC-43C4FCD8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9BC85-4812-45A5-CACD-0CB855491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C0BF9-3046-DA4F-7235-9D70B611A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E81D-EB09-FB62-0FD5-4A92DA697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4FBC0-9691-1C5A-E1CB-248225B3C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A7563-F1F0-DA1D-45A6-8BD90DCC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7704E-CF11-F3F7-75E3-502DA0A90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CFF1A-8E70-8FE0-0847-34ADC57E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8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21614-37D2-376A-6080-E1B0B6DF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3FDBAA-87A8-12AD-8C34-A9CAB008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BA30B-4F3C-DA90-BBFF-F7B558AA2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3606B6-AFA6-0DDF-55FE-0C52D9C3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9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96699-7C74-FA4B-3FC0-9039A987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B0D62-C703-06CC-45CA-5EE2933E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AD7A0-7658-DE1B-9B2E-B9C1E490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5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27AA-A2BF-4179-D789-81A62D357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EAA0-0A8E-92D7-F60A-08AE354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43B0A-ABFB-9501-5974-59CC1EB69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46654-90E0-9243-D51C-D6D6A480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DF262-33FE-F763-2E31-745EF823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93188-FF7D-81F0-FA71-6AFECA4D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9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3229-7033-A37D-798A-8C157226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98EEB-95A3-ADBD-1CA1-E5E5C6247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0C279-7DB5-A969-D718-0C95F6951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E8583-471C-BBBC-1BA9-49DC58DE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24688-37ED-1767-1C4B-32D20B13F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853C9-C125-751F-C695-8C102BCF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4F31-C765-1370-0048-1FC3F333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4489C-0F8F-F963-8489-1415D78E8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F3002-F87D-83C0-F626-1E62D8A4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CBB2C-E73A-CC9F-A461-6E1C86C6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32A67-05FC-5AF7-AA4F-1108FBA9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20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77E3E-6D8B-7270-D9F0-D6E599163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979B8-F06F-0148-5102-B98C7B7F5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18035-6B2B-C3A8-F664-57A1D56D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8E63-6EBC-F6F5-891A-8B9B0515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47F22-F6EF-C4FE-6C02-B318660B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9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6EABBA-404C-8976-89BC-782F8555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2DDDA-AEE0-CA24-6728-5C67C2023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0464C-684D-C643-A0E4-768373DC8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0DBB9-B7A6-5C45-820E-D817D0630EB1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FB4A1-4422-58F6-206C-3962E45F4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47A95-8230-6EAF-CB92-4F3CB86CB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96C13-AF18-D84A-A2E2-BDF1AE32F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57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D0D70D6-95B2-345E-3CE2-B01C38213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42" y="592512"/>
            <a:ext cx="8143649" cy="876749"/>
          </a:xfrm>
          <a:prstGeom prst="rect">
            <a:avLst/>
          </a:prstGeom>
        </p:spPr>
      </p:pic>
      <p:pic>
        <p:nvPicPr>
          <p:cNvPr id="16" name="Picture 15" descr="A picture containing font, white, text, typography&#10;&#10;Description automatically generated">
            <a:extLst>
              <a:ext uri="{FF2B5EF4-FFF2-40B4-BE49-F238E27FC236}">
                <a16:creationId xmlns:a16="http://schemas.microsoft.com/office/drawing/2014/main" id="{908423EB-169D-3D9C-1BF7-10F4A7EC2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885" y="2173987"/>
            <a:ext cx="2627160" cy="945778"/>
          </a:xfrm>
          <a:prstGeom prst="rect">
            <a:avLst/>
          </a:prstGeom>
        </p:spPr>
      </p:pic>
      <p:pic>
        <p:nvPicPr>
          <p:cNvPr id="5" name="Picture 4" descr="A diagram of a cell&#10;&#10;Description automatically generated with low confidence">
            <a:extLst>
              <a:ext uri="{FF2B5EF4-FFF2-40B4-BE49-F238E27FC236}">
                <a16:creationId xmlns:a16="http://schemas.microsoft.com/office/drawing/2014/main" id="{FA46BE89-BE42-8BEA-698A-D75F8740C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56" y="2723961"/>
            <a:ext cx="3849548" cy="360232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806C5DB-8E5C-36D4-0141-D484313FC0C3}"/>
              </a:ext>
            </a:extLst>
          </p:cNvPr>
          <p:cNvGrpSpPr/>
          <p:nvPr/>
        </p:nvGrpSpPr>
        <p:grpSpPr>
          <a:xfrm>
            <a:off x="1016277" y="3527851"/>
            <a:ext cx="3954264" cy="2261402"/>
            <a:chOff x="3795086" y="1764350"/>
            <a:chExt cx="6001207" cy="343202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FC3F29-C79C-3EF0-BA11-53F598814918}"/>
                </a:ext>
              </a:extLst>
            </p:cNvPr>
            <p:cNvSpPr txBox="1"/>
            <p:nvPr/>
          </p:nvSpPr>
          <p:spPr>
            <a:xfrm>
              <a:off x="3795086" y="1991377"/>
              <a:ext cx="1139039" cy="887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>
                      <a:lumMod val="65000"/>
                    </a:schemeClr>
                  </a:solidFill>
                </a:rPr>
                <a:t>P</a:t>
              </a:r>
              <a:r>
                <a:rPr lang="en-US" sz="3200" b="1" baseline="-25000" dirty="0">
                  <a:solidFill>
                    <a:schemeClr val="bg1">
                      <a:lumMod val="65000"/>
                    </a:schemeClr>
                  </a:solidFill>
                </a:rPr>
                <a:t>i≤𝞲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55FB83-9051-881F-46BE-134D44E5D428}"/>
                </a:ext>
              </a:extLst>
            </p:cNvPr>
            <p:cNvSpPr txBox="1"/>
            <p:nvPr/>
          </p:nvSpPr>
          <p:spPr>
            <a:xfrm>
              <a:off x="8652388" y="2137822"/>
              <a:ext cx="1143905" cy="887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err="1">
                  <a:solidFill>
                    <a:schemeClr val="bg1">
                      <a:lumMod val="65000"/>
                    </a:schemeClr>
                  </a:solidFill>
                </a:rPr>
                <a:t>P</a:t>
              </a:r>
              <a:r>
                <a:rPr lang="en-US" sz="3200" b="1" baseline="-25000" dirty="0" err="1">
                  <a:solidFill>
                    <a:schemeClr val="bg1">
                      <a:lumMod val="65000"/>
                    </a:schemeClr>
                  </a:solidFill>
                </a:rPr>
                <a:t>j</a:t>
              </a:r>
              <a:r>
                <a:rPr lang="en-US" sz="3200" b="1" baseline="-25000" dirty="0">
                  <a:solidFill>
                    <a:schemeClr val="bg1">
                      <a:lumMod val="65000"/>
                    </a:schemeClr>
                  </a:solidFill>
                </a:rPr>
                <a:t>&gt;𝞲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9E56AD-381D-74FB-69E6-786C13550D8E}"/>
                </a:ext>
              </a:extLst>
            </p:cNvPr>
            <p:cNvSpPr txBox="1"/>
            <p:nvPr/>
          </p:nvSpPr>
          <p:spPr>
            <a:xfrm>
              <a:off x="6608522" y="4308891"/>
              <a:ext cx="657345" cy="887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>
                      <a:lumMod val="65000"/>
                    </a:schemeClr>
                  </a:solidFill>
                </a:rPr>
                <a:t>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08168A-3ED1-626A-FA66-A0E99308354D}"/>
                </a:ext>
              </a:extLst>
            </p:cNvPr>
            <p:cNvSpPr txBox="1"/>
            <p:nvPr/>
          </p:nvSpPr>
          <p:spPr>
            <a:xfrm>
              <a:off x="5528704" y="1764350"/>
              <a:ext cx="1051458" cy="607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</a:rPr>
                <a:t>k(</a:t>
              </a:r>
              <a:r>
                <a:rPr lang="en-US" sz="2000" dirty="0" err="1">
                  <a:solidFill>
                    <a:schemeClr val="bg1">
                      <a:lumMod val="65000"/>
                    </a:schemeClr>
                  </a:solidFill>
                </a:rPr>
                <a:t>i,x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33ED55-9D20-9024-0DD5-C7D581AF52B0}"/>
                </a:ext>
              </a:extLst>
            </p:cNvPr>
            <p:cNvSpPr txBox="1"/>
            <p:nvPr/>
          </p:nvSpPr>
          <p:spPr>
            <a:xfrm>
              <a:off x="7925469" y="3252581"/>
              <a:ext cx="1075592" cy="607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</a:rPr>
                <a:t>a(</a:t>
              </a:r>
              <a:r>
                <a:rPr lang="en-US" sz="2000" dirty="0" err="1">
                  <a:solidFill>
                    <a:schemeClr val="bg1">
                      <a:lumMod val="65000"/>
                    </a:schemeClr>
                  </a:solidFill>
                </a:rPr>
                <a:t>j,x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37A71A-FFC0-6293-89DA-806DC5503872}"/>
                </a:ext>
              </a:extLst>
            </p:cNvPr>
            <p:cNvSpPr txBox="1"/>
            <p:nvPr/>
          </p:nvSpPr>
          <p:spPr>
            <a:xfrm rot="2634007">
              <a:off x="5245524" y="3088129"/>
              <a:ext cx="1078219" cy="607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</a:rPr>
                <a:t>a(</a:t>
              </a:r>
              <a:r>
                <a:rPr lang="en-US" sz="2000" dirty="0" err="1">
                  <a:solidFill>
                    <a:schemeClr val="bg1">
                      <a:lumMod val="65000"/>
                    </a:schemeClr>
                  </a:solidFill>
                </a:rPr>
                <a:t>i,x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B81C45D-EC33-841F-4A2C-D521A70DADF5}"/>
              </a:ext>
            </a:extLst>
          </p:cNvPr>
          <p:cNvSpPr txBox="1"/>
          <p:nvPr/>
        </p:nvSpPr>
        <p:spPr>
          <a:xfrm>
            <a:off x="6213901" y="1452728"/>
            <a:ext cx="2326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i="1" baseline="-25000" dirty="0">
                <a:solidFill>
                  <a:schemeClr val="accent1">
                    <a:lumMod val="75000"/>
                  </a:schemeClr>
                </a:solidFill>
              </a:rPr>
              <a:t>i-1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cells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endoreplicate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(thus becoming P</a:t>
            </a:r>
            <a:r>
              <a:rPr lang="en-US" i="1" baseline="-2500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06427-3209-540A-0229-DF5B693E6A17}"/>
              </a:ext>
            </a:extLst>
          </p:cNvPr>
          <p:cNvSpPr txBox="1"/>
          <p:nvPr/>
        </p:nvSpPr>
        <p:spPr>
          <a:xfrm>
            <a:off x="8638934" y="1525593"/>
            <a:ext cx="219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i="1" baseline="-2500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cells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endoreplicate</a:t>
            </a:r>
            <a:endParaRPr lang="en-US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832CDC-5743-D9A1-1AF1-547D79B8665D}"/>
              </a:ext>
            </a:extLst>
          </p:cNvPr>
          <p:cNvSpPr txBox="1"/>
          <p:nvPr/>
        </p:nvSpPr>
        <p:spPr>
          <a:xfrm>
            <a:off x="10429889" y="277927"/>
            <a:ext cx="112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Cell death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A0BC30-C02C-1F4E-0583-C563F8671106}"/>
              </a:ext>
            </a:extLst>
          </p:cNvPr>
          <p:cNvSpPr txBox="1"/>
          <p:nvPr/>
        </p:nvSpPr>
        <p:spPr>
          <a:xfrm>
            <a:off x="4312101" y="285879"/>
            <a:ext cx="174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Cell proliferation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98D62BAA-8C69-1A8F-DE09-6EA1DBB73CD4}"/>
              </a:ext>
            </a:extLst>
          </p:cNvPr>
          <p:cNvSpPr/>
          <p:nvPr/>
        </p:nvSpPr>
        <p:spPr>
          <a:xfrm rot="5400000">
            <a:off x="7141860" y="304750"/>
            <a:ext cx="329452" cy="2162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FBE57D8F-52D6-787B-7141-FF8C1CA9309C}"/>
              </a:ext>
            </a:extLst>
          </p:cNvPr>
          <p:cNvSpPr/>
          <p:nvPr/>
        </p:nvSpPr>
        <p:spPr>
          <a:xfrm rot="5400000">
            <a:off x="9255005" y="724562"/>
            <a:ext cx="322873" cy="13297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6F86E5E0-76DB-A5B8-083F-BFE6911256FF}"/>
              </a:ext>
            </a:extLst>
          </p:cNvPr>
          <p:cNvSpPr/>
          <p:nvPr/>
        </p:nvSpPr>
        <p:spPr>
          <a:xfrm rot="16200000">
            <a:off x="4972059" y="158399"/>
            <a:ext cx="329452" cy="13071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CC09D91D-30D4-473E-2D69-FEA93BBB3BEE}"/>
              </a:ext>
            </a:extLst>
          </p:cNvPr>
          <p:cNvSpPr/>
          <p:nvPr/>
        </p:nvSpPr>
        <p:spPr>
          <a:xfrm rot="16200000">
            <a:off x="10863836" y="126748"/>
            <a:ext cx="322873" cy="12282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BFC004-CCC1-8C16-E232-EFAECC9EAE9B}"/>
              </a:ext>
            </a:extLst>
          </p:cNvPr>
          <p:cNvSpPr txBox="1"/>
          <p:nvPr/>
        </p:nvSpPr>
        <p:spPr>
          <a:xfrm>
            <a:off x="605280" y="3066186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⍺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59E0F4-DF23-982E-4C2D-C6FCC5E48084}"/>
              </a:ext>
            </a:extLst>
          </p:cNvPr>
          <p:cNvSpPr txBox="1"/>
          <p:nvPr/>
        </p:nvSpPr>
        <p:spPr>
          <a:xfrm>
            <a:off x="417101" y="2254036"/>
            <a:ext cx="1349702" cy="344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Cycling state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ACDF3B-5AE9-93B6-270C-F99E1B2A544C}"/>
              </a:ext>
            </a:extLst>
          </p:cNvPr>
          <p:cNvSpPr txBox="1"/>
          <p:nvPr/>
        </p:nvSpPr>
        <p:spPr>
          <a:xfrm>
            <a:off x="2895487" y="2251457"/>
            <a:ext cx="1575990" cy="344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Polyploid state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8DF095-8470-6D55-2415-E515FB1AF974}"/>
              </a:ext>
            </a:extLst>
          </p:cNvPr>
          <p:cNvSpPr txBox="1"/>
          <p:nvPr/>
        </p:nvSpPr>
        <p:spPr>
          <a:xfrm>
            <a:off x="2547984" y="6132171"/>
            <a:ext cx="2474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Apoptotic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1F8369-3011-7B71-EADF-2FB79C4037C9}"/>
              </a:ext>
            </a:extLst>
          </p:cNvPr>
          <p:cNvSpPr/>
          <p:nvPr/>
        </p:nvSpPr>
        <p:spPr>
          <a:xfrm>
            <a:off x="453566" y="2261785"/>
            <a:ext cx="4838870" cy="435935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46AB86-3687-47A4-D27E-6678FC0C83CC}"/>
              </a:ext>
            </a:extLst>
          </p:cNvPr>
          <p:cNvSpPr txBox="1"/>
          <p:nvPr/>
        </p:nvSpPr>
        <p:spPr>
          <a:xfrm>
            <a:off x="4407391" y="3044725"/>
            <a:ext cx="702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k(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j,x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3015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36390</TotalTime>
  <Words>53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Costs and benefits of high ploidy</dc:title>
  <dc:creator>Vural Tagal</dc:creator>
  <cp:lastModifiedBy>Andor, Noemi</cp:lastModifiedBy>
  <cp:revision>57</cp:revision>
  <dcterms:created xsi:type="dcterms:W3CDTF">2022-10-28T13:19:40Z</dcterms:created>
  <dcterms:modified xsi:type="dcterms:W3CDTF">2023-05-31T19:31:41Z</dcterms:modified>
</cp:coreProperties>
</file>