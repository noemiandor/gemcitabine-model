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644" r:id="rId2"/>
    <p:sldId id="645" r:id="rId3"/>
    <p:sldId id="646" r:id="rId4"/>
    <p:sldId id="554" r:id="rId5"/>
    <p:sldId id="633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23E3DD-9BE0-D448-A769-95B3B05BE5AB}" type="datetimeFigureOut">
              <a:rPr lang="en-US" smtClean="0"/>
              <a:t>12/10/24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82D5CF-5F1C-4148-8075-2FED8295F3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2617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ABC38C-A85F-C840-83D1-773BAD8D81E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9592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504D5-027F-1F3B-7694-195F193EB1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CDBC42-F30D-66CC-F6A6-45F7AB261A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2C52A1-A4B7-7AF0-02AE-3BA2D4D73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1C967-D37C-684C-9007-D03EB0790D56}" type="datetimeFigureOut">
              <a:rPr lang="en-US" smtClean="0"/>
              <a:t>12/10/24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019A45-0E03-8561-C6D8-5AE2C7BE6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4E51E8-7F0B-8610-504C-D9893B8D8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4E444-84A8-2E40-AC26-CAA778DB42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7277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8AAFE-1043-03C7-4770-30E01142A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667B45-6FB5-4400-9D84-B5C4A171C1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6AD188-9D8E-A277-297E-4A588930D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1C967-D37C-684C-9007-D03EB0790D56}" type="datetimeFigureOut">
              <a:rPr lang="en-US" smtClean="0"/>
              <a:t>12/10/24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2A2C30-2B8C-2FEC-0259-1C7637CA1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9FF116-71B9-68A9-4F2B-3580590DC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4E444-84A8-2E40-AC26-CAA778DB42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2320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E1FDB-3C2D-9E0A-D68C-A72E6442D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44A511-B975-C5A4-453B-A51E85A81B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97D798-3987-E92D-8B2F-08942A112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1C967-D37C-684C-9007-D03EB0790D56}" type="datetimeFigureOut">
              <a:rPr lang="en-US" smtClean="0"/>
              <a:t>12/10/24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818B46-E22D-E4D7-8506-F36983441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7952E0-742F-4566-C8EF-4A0F59F94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4E444-84A8-2E40-AC26-CAA778DB42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20584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2A873-96E5-7ACD-A2CA-FA289C03C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A95474-FDAF-74B9-B6F2-BA4CDC715C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D56790-BD91-CFDC-D894-F2691F5520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12E8AA-6632-0A6E-8355-A28FC61259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1C967-D37C-684C-9007-D03EB0790D56}" type="datetimeFigureOut">
              <a:rPr lang="en-US" smtClean="0"/>
              <a:t>12/10/24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9BCAB7-1384-C4B2-E9F0-8EA49CCC7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AE62BE-CD05-5D1D-63A1-CBA4F9348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4E444-84A8-2E40-AC26-CAA778DB42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540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708A3-8C8A-89CD-0E3C-864EDEF12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298BB7-BD4B-72A6-0F62-C1D5D19BAD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CABD79-5349-8711-D6DA-529D8B8AC3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828E72-FA81-3788-3F9A-FA5C75695C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E19EBF-6D18-80A7-A34D-25F9D0E506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2AA0CD0-F24B-8D44-F159-50FEED03FD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1C967-D37C-684C-9007-D03EB0790D56}" type="datetimeFigureOut">
              <a:rPr lang="en-US" smtClean="0"/>
              <a:t>12/10/24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92913A5-4270-D239-04E9-712FCE29C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431EF7-50B8-0BC9-8691-3C3C71738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4E444-84A8-2E40-AC26-CAA778DB42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9206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D0F53-6399-41B4-E285-656372696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F7CBCB-58A3-AB2B-8314-AC6ADCAEAD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1C967-D37C-684C-9007-D03EB0790D56}" type="datetimeFigureOut">
              <a:rPr lang="en-US" smtClean="0"/>
              <a:t>12/10/24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6754C9-C59D-6B29-22EF-EC9179FD4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050CCF-38CE-BEE7-B983-B4287ECDC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4E444-84A8-2E40-AC26-CAA778DB42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541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2D0BCA2-C6DE-E81C-EDFB-E6E98CA0B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1C967-D37C-684C-9007-D03EB0790D56}" type="datetimeFigureOut">
              <a:rPr lang="en-US" smtClean="0"/>
              <a:t>12/10/24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D0F2B2-99B4-B065-0432-B74599A69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101053-0026-3324-8C93-6448442D0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4E444-84A8-2E40-AC26-CAA778DB42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8656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6112-EA38-4A8B-ED99-FCD3EED995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22208E-BB67-86ED-AA39-7C2DC780E0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7F73CB-E4B3-1651-0715-64005EF172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4E5F7C-F5C4-C737-BA5D-6CF8E300D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1C967-D37C-684C-9007-D03EB0790D56}" type="datetimeFigureOut">
              <a:rPr lang="en-US" smtClean="0"/>
              <a:t>12/10/24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063CC3-80E9-3051-6F6E-F7FF9B7FA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FA842E-A8B1-4C4C-7BC4-80E74899B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4E444-84A8-2E40-AC26-CAA778DB42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349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30EC5-A980-C7E2-4076-9A51F38483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48EC61-C913-A4EE-1DFF-908CF309A1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964431-D20B-8359-16D1-09C9656F36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B522A3-D54D-2A41-97CC-E69157557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1C967-D37C-684C-9007-D03EB0790D56}" type="datetimeFigureOut">
              <a:rPr lang="en-US" smtClean="0"/>
              <a:t>12/10/24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0FF3BE-B0BE-BED8-8366-3277D6E70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C093A0-C616-582C-4EF6-CD7E892A6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4E444-84A8-2E40-AC26-CAA778DB42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7373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3D276-9682-EF45-5DA5-6E8439650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53C478-688D-97B9-E806-946ED338A4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F814EC-E4B4-90F8-1942-43FA273C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1C967-D37C-684C-9007-D03EB0790D56}" type="datetimeFigureOut">
              <a:rPr lang="en-US" smtClean="0"/>
              <a:t>12/10/24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95E8E4-3ED3-4F7A-4D5F-48120CBDC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B2F19D-3FE1-F22F-D77A-AB73E4234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4E444-84A8-2E40-AC26-CAA778DB42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6121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50C17D0-D6F4-EC85-B7C6-015CDFF951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FD78DB-E70C-79A8-E959-89D42928F3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B4279C-7BBB-4C32-23AE-F7FFF9C77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1C967-D37C-684C-9007-D03EB0790D56}" type="datetimeFigureOut">
              <a:rPr lang="en-US" smtClean="0"/>
              <a:t>12/10/24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2D7233-7E71-0ECA-4429-AE39ADEDB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0186C3-1156-3045-6665-6DCCD09B4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4E444-84A8-2E40-AC26-CAA778DB42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4762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06BB806-97FF-9363-FB83-ADCF8D83C5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519F32-0D60-D099-83D0-9E72A797F7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6E5CEB-3EB1-F395-6946-1C37D3F296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A1C967-D37C-684C-9007-D03EB0790D56}" type="datetimeFigureOut">
              <a:rPr lang="en-US" smtClean="0"/>
              <a:t>12/10/24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9CD858-211F-B63E-1600-F14DD1DC90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89B803-3BA6-AEDC-19DD-C8ACDE7967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A4E444-84A8-2E40-AC26-CAA778DB42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197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60;p49">
            <a:extLst>
              <a:ext uri="{FF2B5EF4-FFF2-40B4-BE49-F238E27FC236}">
                <a16:creationId xmlns:a16="http://schemas.microsoft.com/office/drawing/2014/main" id="{9919052F-7D29-0616-ADDC-0113FD140EE5}"/>
              </a:ext>
            </a:extLst>
          </p:cNvPr>
          <p:cNvSpPr txBox="1">
            <a:spLocks/>
          </p:cNvSpPr>
          <p:nvPr/>
        </p:nvSpPr>
        <p:spPr>
          <a:xfrm>
            <a:off x="455979" y="226104"/>
            <a:ext cx="11025280" cy="122211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0"/>
              </a:spcBef>
              <a:buSzPts val="4400"/>
            </a:pPr>
            <a:r>
              <a:rPr lang="en-US" sz="3200" b="1" dirty="0">
                <a:latin typeface="Arial"/>
                <a:ea typeface="Arial"/>
                <a:cs typeface="Arial"/>
                <a:sym typeface="Arial"/>
              </a:rPr>
              <a:t>Classification of cell tracks to G1/S, G2/M and endoreplication </a:t>
            </a:r>
            <a:endParaRPr lang="en-US" sz="3200" dirty="0"/>
          </a:p>
        </p:txBody>
      </p:sp>
      <p:grpSp>
        <p:nvGrpSpPr>
          <p:cNvPr id="5" name="Google Shape;363;p49">
            <a:extLst>
              <a:ext uri="{FF2B5EF4-FFF2-40B4-BE49-F238E27FC236}">
                <a16:creationId xmlns:a16="http://schemas.microsoft.com/office/drawing/2014/main" id="{5623410B-74EC-9858-D850-CE2F014806DF}"/>
              </a:ext>
            </a:extLst>
          </p:cNvPr>
          <p:cNvGrpSpPr/>
          <p:nvPr/>
        </p:nvGrpSpPr>
        <p:grpSpPr>
          <a:xfrm>
            <a:off x="6162513" y="2356683"/>
            <a:ext cx="4494995" cy="3661246"/>
            <a:chOff x="3608573" y="1315399"/>
            <a:chExt cx="5412843" cy="4408848"/>
          </a:xfrm>
        </p:grpSpPr>
        <p:pic>
          <p:nvPicPr>
            <p:cNvPr id="6" name="Google Shape;364;p49" descr="A graph of a number of different colored bars&#10;&#10;Description automatically generated">
              <a:extLst>
                <a:ext uri="{FF2B5EF4-FFF2-40B4-BE49-F238E27FC236}">
                  <a16:creationId xmlns:a16="http://schemas.microsoft.com/office/drawing/2014/main" id="{2CF7BB3F-814A-DA69-4E4C-4CA08495C5FC}"/>
                </a:ext>
              </a:extLst>
            </p:cNvPr>
            <p:cNvPicPr preferRelativeResize="0">
              <a:picLocks noChangeAspect="1"/>
            </p:cNvPicPr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3608573" y="1315399"/>
              <a:ext cx="5412843" cy="4408848"/>
            </a:xfrm>
            <a:prstGeom prst="rect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pic>
        <p:sp>
          <p:nvSpPr>
            <p:cNvPr id="7" name="Google Shape;365;p49">
              <a:extLst>
                <a:ext uri="{FF2B5EF4-FFF2-40B4-BE49-F238E27FC236}">
                  <a16:creationId xmlns:a16="http://schemas.microsoft.com/office/drawing/2014/main" id="{F6F49BC1-E48B-8103-36D6-1EFCE21392FB}"/>
                </a:ext>
              </a:extLst>
            </p:cNvPr>
            <p:cNvSpPr txBox="1"/>
            <p:nvPr/>
          </p:nvSpPr>
          <p:spPr>
            <a:xfrm>
              <a:off x="4409554" y="4303118"/>
              <a:ext cx="980663" cy="70418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91425" rIns="91425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0" i="0" u="none" strike="noStrike" cap="none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Dead</a:t>
              </a:r>
              <a:endParaRPr dirty="0"/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0" i="0" u="none" strike="noStrike" cap="none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G1/S</a:t>
              </a:r>
              <a:endParaRPr dirty="0"/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0" i="0" u="none" strike="noStrike" cap="none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G2/M</a:t>
              </a:r>
              <a:endParaRPr dirty="0"/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0" i="0" u="none" strike="noStrike" cap="none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Endoreplication</a:t>
              </a:r>
              <a:endParaRPr dirty="0"/>
            </a:p>
          </p:txBody>
        </p:sp>
      </p:grpSp>
      <p:pic>
        <p:nvPicPr>
          <p:cNvPr id="8" name="Google Shape;367;p49" descr="A graph of different colored bars&#10;&#10;Description automatically generated">
            <a:extLst>
              <a:ext uri="{FF2B5EF4-FFF2-40B4-BE49-F238E27FC236}">
                <a16:creationId xmlns:a16="http://schemas.microsoft.com/office/drawing/2014/main" id="{B42E61CE-939B-DD9D-4E83-97084A02F7CE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</a:blip>
          <a:srcRect t="6741"/>
          <a:stretch/>
        </p:blipFill>
        <p:spPr>
          <a:xfrm>
            <a:off x="1564897" y="2356683"/>
            <a:ext cx="4378322" cy="3661246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8843B61-DD87-BDA1-C1B2-628F1CF689D3}"/>
              </a:ext>
            </a:extLst>
          </p:cNvPr>
          <p:cNvSpPr txBox="1"/>
          <p:nvPr/>
        </p:nvSpPr>
        <p:spPr>
          <a:xfrm>
            <a:off x="2915858" y="1914433"/>
            <a:ext cx="167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SUM-159 (2N)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2E2F519-03B6-3EEF-4D9E-CEB9641BE707}"/>
              </a:ext>
            </a:extLst>
          </p:cNvPr>
          <p:cNvSpPr txBox="1"/>
          <p:nvPr/>
        </p:nvSpPr>
        <p:spPr>
          <a:xfrm>
            <a:off x="7571810" y="1914433"/>
            <a:ext cx="167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SUM-159 (4N)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4CCFD58-7DB1-9AE0-EF30-F64BB111E24B}"/>
              </a:ext>
            </a:extLst>
          </p:cNvPr>
          <p:cNvSpPr txBox="1"/>
          <p:nvPr/>
        </p:nvSpPr>
        <p:spPr>
          <a:xfrm rot="16200000">
            <a:off x="-66349" y="3790602"/>
            <a:ext cx="26484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Gemcitabine (50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5F7018B-B623-15D5-26F0-0980FF5938C4}"/>
              </a:ext>
            </a:extLst>
          </p:cNvPr>
          <p:cNvCxnSpPr/>
          <p:nvPr/>
        </p:nvCxnSpPr>
        <p:spPr>
          <a:xfrm>
            <a:off x="1458292" y="2334565"/>
            <a:ext cx="0" cy="36960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DB8228C-F6E7-D642-C3DB-8AE72DFAB0FD}"/>
              </a:ext>
            </a:extLst>
          </p:cNvPr>
          <p:cNvCxnSpPr>
            <a:cxnSpLocks/>
          </p:cNvCxnSpPr>
          <p:nvPr/>
        </p:nvCxnSpPr>
        <p:spPr>
          <a:xfrm>
            <a:off x="1552197" y="2276899"/>
            <a:ext cx="909261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Google Shape;365;p49">
            <a:extLst>
              <a:ext uri="{FF2B5EF4-FFF2-40B4-BE49-F238E27FC236}">
                <a16:creationId xmlns:a16="http://schemas.microsoft.com/office/drawing/2014/main" id="{DE1E1DEC-D812-BF64-4DBC-1DF8A63C8CD7}"/>
              </a:ext>
            </a:extLst>
          </p:cNvPr>
          <p:cNvSpPr txBox="1"/>
          <p:nvPr/>
        </p:nvSpPr>
        <p:spPr>
          <a:xfrm>
            <a:off x="2227451" y="4860357"/>
            <a:ext cx="814373" cy="58477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91425" rIns="91425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Dead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G1/S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G2/M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Endoreplication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55883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39D3B-9BA0-49DF-E07E-68FF72F0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7450"/>
            <a:ext cx="10515600" cy="1325563"/>
          </a:xfrm>
        </p:spPr>
        <p:txBody>
          <a:bodyPr>
            <a:noAutofit/>
          </a:bodyPr>
          <a:lstStyle/>
          <a:p>
            <a:r>
              <a:rPr lang="en-US" sz="3400" b="1" dirty="0">
                <a:latin typeface="Arial"/>
                <a:ea typeface="Arial"/>
                <a:cs typeface="Arial"/>
                <a:sym typeface="Arial"/>
              </a:rPr>
              <a:t>Gemcitabine sensitivity as a function of tumor ploidy</a:t>
            </a:r>
            <a:endParaRPr lang="en-US" sz="3400" dirty="0"/>
          </a:p>
        </p:txBody>
      </p:sp>
      <p:pic>
        <p:nvPicPr>
          <p:cNvPr id="4" name="Google Shape;380;p50">
            <a:extLst>
              <a:ext uri="{FF2B5EF4-FFF2-40B4-BE49-F238E27FC236}">
                <a16:creationId xmlns:a16="http://schemas.microsoft.com/office/drawing/2014/main" id="{1FEFBD96-80A8-3326-14C0-C406215A77DF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8200" y="2032000"/>
            <a:ext cx="4876800" cy="3538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382;p50">
            <a:extLst>
              <a:ext uri="{FF2B5EF4-FFF2-40B4-BE49-F238E27FC236}">
                <a16:creationId xmlns:a16="http://schemas.microsoft.com/office/drawing/2014/main" id="{6E038008-0848-1435-4C80-8EFF460C41C4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34425" y="1104083"/>
            <a:ext cx="3438375" cy="270498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383;p50">
            <a:extLst>
              <a:ext uri="{FF2B5EF4-FFF2-40B4-BE49-F238E27FC236}">
                <a16:creationId xmlns:a16="http://schemas.microsoft.com/office/drawing/2014/main" id="{16A8314D-41D5-5313-430D-9E364CF37DCC}"/>
              </a:ext>
            </a:extLst>
          </p:cNvPr>
          <p:cNvSpPr txBox="1"/>
          <p:nvPr/>
        </p:nvSpPr>
        <p:spPr>
          <a:xfrm rot="16200000">
            <a:off x="6198438" y="1921824"/>
            <a:ext cx="2181875" cy="64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SUM-159 (2N)</a:t>
            </a:r>
            <a:endParaRPr sz="2200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7" name="Google Shape;384;p50">
            <a:extLst>
              <a:ext uri="{FF2B5EF4-FFF2-40B4-BE49-F238E27FC236}">
                <a16:creationId xmlns:a16="http://schemas.microsoft.com/office/drawing/2014/main" id="{0E924712-122E-A67E-7A21-619F4A57888E}"/>
              </a:ext>
            </a:extLst>
          </p:cNvPr>
          <p:cNvSpPr txBox="1"/>
          <p:nvPr/>
        </p:nvSpPr>
        <p:spPr>
          <a:xfrm rot="16200000">
            <a:off x="6186714" y="4920460"/>
            <a:ext cx="2234975" cy="64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SUM-159 (4N)</a:t>
            </a:r>
            <a:endParaRPr sz="2200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pic>
        <p:nvPicPr>
          <p:cNvPr id="8" name="Google Shape;385;p50">
            <a:extLst>
              <a:ext uri="{FF2B5EF4-FFF2-40B4-BE49-F238E27FC236}">
                <a16:creationId xmlns:a16="http://schemas.microsoft.com/office/drawing/2014/main" id="{595948E4-63CA-CE02-1E51-4BDB030A86CD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34425" y="4003796"/>
            <a:ext cx="3438375" cy="265537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654794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79E49-B9F8-CB95-24B6-63C2E86DD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036" y="164819"/>
            <a:ext cx="10515600" cy="758948"/>
          </a:xfrm>
        </p:spPr>
        <p:txBody>
          <a:bodyPr>
            <a:noAutofit/>
          </a:bodyPr>
          <a:lstStyle/>
          <a:p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Parameterization of cell cycle dynamics in the absence and presence of gemcitabine</a:t>
            </a:r>
          </a:p>
        </p:txBody>
      </p:sp>
      <p:sp>
        <p:nvSpPr>
          <p:cNvPr id="4" name="Google Shape;391;p51">
            <a:extLst>
              <a:ext uri="{FF2B5EF4-FFF2-40B4-BE49-F238E27FC236}">
                <a16:creationId xmlns:a16="http://schemas.microsoft.com/office/drawing/2014/main" id="{4FABE0ED-7A48-1CDE-4889-9DDDD63CCAA4}"/>
              </a:ext>
            </a:extLst>
          </p:cNvPr>
          <p:cNvSpPr txBox="1">
            <a:spLocks noChangeAspect="1"/>
          </p:cNvSpPr>
          <p:nvPr/>
        </p:nvSpPr>
        <p:spPr>
          <a:xfrm>
            <a:off x="2875365" y="3810171"/>
            <a:ext cx="3123301" cy="75894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buSzPts val="4400"/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Cytostatic effects </a:t>
            </a:r>
            <a:endParaRPr lang="en-US" sz="1800" b="1" dirty="0"/>
          </a:p>
        </p:txBody>
      </p:sp>
      <p:pic>
        <p:nvPicPr>
          <p:cNvPr id="5" name="Google Shape;395;p51">
            <a:extLst>
              <a:ext uri="{FF2B5EF4-FFF2-40B4-BE49-F238E27FC236}">
                <a16:creationId xmlns:a16="http://schemas.microsoft.com/office/drawing/2014/main" id="{09CCA0B9-FB46-A803-5774-E20E0E32BB01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345741" y="4351712"/>
            <a:ext cx="2019965" cy="2379827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396;p51">
            <a:extLst>
              <a:ext uri="{FF2B5EF4-FFF2-40B4-BE49-F238E27FC236}">
                <a16:creationId xmlns:a16="http://schemas.microsoft.com/office/drawing/2014/main" id="{3543E8B4-CF1F-0293-FB02-92A5BB1AD708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1149" y="4300247"/>
            <a:ext cx="2053790" cy="2392934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397;p51">
            <a:extLst>
              <a:ext uri="{FF2B5EF4-FFF2-40B4-BE49-F238E27FC236}">
                <a16:creationId xmlns:a16="http://schemas.microsoft.com/office/drawing/2014/main" id="{A29B64EE-9100-98DA-C300-4191D7676F8D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75275" y="4313602"/>
            <a:ext cx="2050395" cy="2392934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399;p51">
            <a:extLst>
              <a:ext uri="{FF2B5EF4-FFF2-40B4-BE49-F238E27FC236}">
                <a16:creationId xmlns:a16="http://schemas.microsoft.com/office/drawing/2014/main" id="{145FA891-6752-AAC3-14EA-5FB87C5AFDE4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48007" y="1744245"/>
            <a:ext cx="1835357" cy="1809807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400;p51">
            <a:extLst>
              <a:ext uri="{FF2B5EF4-FFF2-40B4-BE49-F238E27FC236}">
                <a16:creationId xmlns:a16="http://schemas.microsoft.com/office/drawing/2014/main" id="{311A697F-9ED7-7372-CE3B-7AB4FA1C3A68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15653" y="1744245"/>
            <a:ext cx="1797072" cy="18098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401;p51">
            <a:extLst>
              <a:ext uri="{FF2B5EF4-FFF2-40B4-BE49-F238E27FC236}">
                <a16:creationId xmlns:a16="http://schemas.microsoft.com/office/drawing/2014/main" id="{2AD65079-E80D-E232-91CB-AD8CF9EF4968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087968" y="1743379"/>
            <a:ext cx="1851907" cy="1809807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403;p51">
            <a:extLst>
              <a:ext uri="{FF2B5EF4-FFF2-40B4-BE49-F238E27FC236}">
                <a16:creationId xmlns:a16="http://schemas.microsoft.com/office/drawing/2014/main" id="{F4112C4D-44F0-B7EC-C443-B944BEA0775C}"/>
              </a:ext>
            </a:extLst>
          </p:cNvPr>
          <p:cNvSpPr txBox="1">
            <a:spLocks noChangeAspect="1"/>
          </p:cNvSpPr>
          <p:nvPr/>
        </p:nvSpPr>
        <p:spPr>
          <a:xfrm>
            <a:off x="8451602" y="3911188"/>
            <a:ext cx="2114071" cy="55399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buSzPts val="4400"/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Cytotoxic effects</a:t>
            </a:r>
            <a:endParaRPr lang="en-US" sz="1800" b="1" dirty="0"/>
          </a:p>
        </p:txBody>
      </p:sp>
      <p:sp>
        <p:nvSpPr>
          <p:cNvPr id="12" name="Google Shape;402;p51">
            <a:extLst>
              <a:ext uri="{FF2B5EF4-FFF2-40B4-BE49-F238E27FC236}">
                <a16:creationId xmlns:a16="http://schemas.microsoft.com/office/drawing/2014/main" id="{9C2019CD-329B-0A3B-3598-37A57A4BF72C}"/>
              </a:ext>
            </a:extLst>
          </p:cNvPr>
          <p:cNvSpPr txBox="1">
            <a:spLocks/>
          </p:cNvSpPr>
          <p:nvPr/>
        </p:nvSpPr>
        <p:spPr>
          <a:xfrm>
            <a:off x="9260371" y="1296598"/>
            <a:ext cx="1685809" cy="4627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  <a:buSzPts val="4400"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Cell death</a:t>
            </a:r>
            <a:endParaRPr lang="en-US" sz="2000" b="1" dirty="0"/>
          </a:p>
        </p:txBody>
      </p:sp>
      <p:pic>
        <p:nvPicPr>
          <p:cNvPr id="16" name="Google Shape;398;p51">
            <a:extLst>
              <a:ext uri="{FF2B5EF4-FFF2-40B4-BE49-F238E27FC236}">
                <a16:creationId xmlns:a16="http://schemas.microsoft.com/office/drawing/2014/main" id="{1BBD09DF-B19D-B342-255F-04D936BDDC64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587070" y="4351712"/>
            <a:ext cx="1771191" cy="21245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380;p50">
            <a:extLst>
              <a:ext uri="{FF2B5EF4-FFF2-40B4-BE49-F238E27FC236}">
                <a16:creationId xmlns:a16="http://schemas.microsoft.com/office/drawing/2014/main" id="{8F6DFF93-8DE3-C735-5020-7D6ECC99EDA3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9">
            <a:alphaModFix/>
          </a:blip>
          <a:srcRect l="3652" t="1506" r="1826"/>
          <a:stretch/>
        </p:blipFill>
        <p:spPr>
          <a:xfrm>
            <a:off x="202323" y="1329479"/>
            <a:ext cx="3405797" cy="257469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19" name="Google Shape;402;p51">
            <a:extLst>
              <a:ext uri="{FF2B5EF4-FFF2-40B4-BE49-F238E27FC236}">
                <a16:creationId xmlns:a16="http://schemas.microsoft.com/office/drawing/2014/main" id="{7E99695B-63B5-89AC-66F5-FE591DAFB7CD}"/>
              </a:ext>
            </a:extLst>
          </p:cNvPr>
          <p:cNvSpPr txBox="1">
            <a:spLocks/>
          </p:cNvSpPr>
          <p:nvPr/>
        </p:nvSpPr>
        <p:spPr>
          <a:xfrm>
            <a:off x="4447822" y="1178942"/>
            <a:ext cx="3880429" cy="75894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  <a:buSzPts val="4400"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Cell cycle dynamics</a:t>
            </a:r>
            <a:endParaRPr lang="en-US" sz="2000" b="1" dirty="0"/>
          </a:p>
        </p:txBody>
      </p:sp>
      <p:sp>
        <p:nvSpPr>
          <p:cNvPr id="20" name="Google Shape;402;p51">
            <a:extLst>
              <a:ext uri="{FF2B5EF4-FFF2-40B4-BE49-F238E27FC236}">
                <a16:creationId xmlns:a16="http://schemas.microsoft.com/office/drawing/2014/main" id="{B8568237-6518-3F21-25BE-07A2A971E761}"/>
              </a:ext>
            </a:extLst>
          </p:cNvPr>
          <p:cNvSpPr txBox="1">
            <a:spLocks/>
          </p:cNvSpPr>
          <p:nvPr/>
        </p:nvSpPr>
        <p:spPr>
          <a:xfrm>
            <a:off x="6151197" y="1002607"/>
            <a:ext cx="3955281" cy="41255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  <a:buSzPts val="4400"/>
            </a:pPr>
            <a:r>
              <a:rPr lang="en-US" sz="22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 treatment</a:t>
            </a:r>
            <a:endParaRPr lang="en-US" sz="2200" b="1" dirty="0"/>
          </a:p>
        </p:txBody>
      </p:sp>
      <p:sp>
        <p:nvSpPr>
          <p:cNvPr id="21" name="Google Shape;402;p51">
            <a:extLst>
              <a:ext uri="{FF2B5EF4-FFF2-40B4-BE49-F238E27FC236}">
                <a16:creationId xmlns:a16="http://schemas.microsoft.com/office/drawing/2014/main" id="{95B3E3B4-E897-A4D7-C31C-67BF2EB4FB35}"/>
              </a:ext>
            </a:extLst>
          </p:cNvPr>
          <p:cNvSpPr txBox="1">
            <a:spLocks/>
          </p:cNvSpPr>
          <p:nvPr/>
        </p:nvSpPr>
        <p:spPr>
          <a:xfrm>
            <a:off x="3902138" y="3690995"/>
            <a:ext cx="4175700" cy="38621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  <a:buSzPts val="4400"/>
            </a:pPr>
            <a:r>
              <a:rPr lang="en-US" sz="2200" b="1" dirty="0">
                <a:latin typeface="Arial"/>
                <a:ea typeface="Arial"/>
                <a:cs typeface="Arial"/>
                <a:sym typeface="Arial"/>
              </a:rPr>
              <a:t>Gemcitabine treatment</a:t>
            </a:r>
            <a:endParaRPr lang="en-US" sz="2200" b="1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DA675F3-31D3-C5C2-E560-E855F3ACA43C}"/>
              </a:ext>
            </a:extLst>
          </p:cNvPr>
          <p:cNvCxnSpPr>
            <a:cxnSpLocks/>
          </p:cNvCxnSpPr>
          <p:nvPr/>
        </p:nvCxnSpPr>
        <p:spPr>
          <a:xfrm>
            <a:off x="4468878" y="1329479"/>
            <a:ext cx="641418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111C9BD-7E7D-C14D-5485-9C71FFCAED3E}"/>
              </a:ext>
            </a:extLst>
          </p:cNvPr>
          <p:cNvCxnSpPr>
            <a:cxnSpLocks/>
          </p:cNvCxnSpPr>
          <p:nvPr/>
        </p:nvCxnSpPr>
        <p:spPr>
          <a:xfrm>
            <a:off x="4468878" y="1710257"/>
            <a:ext cx="364384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AF7F05B0-FCBC-93EC-6E1B-190AAA10BED9}"/>
              </a:ext>
            </a:extLst>
          </p:cNvPr>
          <p:cNvCxnSpPr>
            <a:cxnSpLocks/>
          </p:cNvCxnSpPr>
          <p:nvPr/>
        </p:nvCxnSpPr>
        <p:spPr>
          <a:xfrm>
            <a:off x="9258231" y="1687679"/>
            <a:ext cx="164740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82D53683-681F-68CF-F79B-05FB87B90154}"/>
              </a:ext>
            </a:extLst>
          </p:cNvPr>
          <p:cNvCxnSpPr>
            <a:cxnSpLocks/>
          </p:cNvCxnSpPr>
          <p:nvPr/>
        </p:nvCxnSpPr>
        <p:spPr>
          <a:xfrm>
            <a:off x="778932" y="4017539"/>
            <a:ext cx="971900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E4460DD-BCBF-F107-A2EA-6417EE6F5639}"/>
              </a:ext>
            </a:extLst>
          </p:cNvPr>
          <p:cNvCxnSpPr>
            <a:cxnSpLocks/>
          </p:cNvCxnSpPr>
          <p:nvPr/>
        </p:nvCxnSpPr>
        <p:spPr>
          <a:xfrm>
            <a:off x="790220" y="4301616"/>
            <a:ext cx="657548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2D5A64F-D7FD-BFBD-336A-4A33F975E674}"/>
              </a:ext>
            </a:extLst>
          </p:cNvPr>
          <p:cNvCxnSpPr>
            <a:cxnSpLocks/>
          </p:cNvCxnSpPr>
          <p:nvPr/>
        </p:nvCxnSpPr>
        <p:spPr>
          <a:xfrm>
            <a:off x="8497709" y="4324194"/>
            <a:ext cx="187605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A1CCBDFC-962B-1C43-687B-CB18A3072C3C}"/>
              </a:ext>
            </a:extLst>
          </p:cNvPr>
          <p:cNvSpPr txBox="1"/>
          <p:nvPr/>
        </p:nvSpPr>
        <p:spPr>
          <a:xfrm>
            <a:off x="202324" y="1248592"/>
            <a:ext cx="3754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4BB90E2-AF61-BC73-756B-2D3384B029C6}"/>
              </a:ext>
            </a:extLst>
          </p:cNvPr>
          <p:cNvSpPr txBox="1"/>
          <p:nvPr/>
        </p:nvSpPr>
        <p:spPr>
          <a:xfrm>
            <a:off x="3982088" y="1248592"/>
            <a:ext cx="3754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B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D5F426C-3C6D-8F9C-626A-552F0C0E5052}"/>
              </a:ext>
            </a:extLst>
          </p:cNvPr>
          <p:cNvSpPr txBox="1"/>
          <p:nvPr/>
        </p:nvSpPr>
        <p:spPr>
          <a:xfrm>
            <a:off x="8738310" y="1246490"/>
            <a:ext cx="4026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C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B734EC1-2678-C956-B6BB-6277F0337740}"/>
              </a:ext>
            </a:extLst>
          </p:cNvPr>
          <p:cNvSpPr txBox="1"/>
          <p:nvPr/>
        </p:nvSpPr>
        <p:spPr>
          <a:xfrm>
            <a:off x="374320" y="3982962"/>
            <a:ext cx="4026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B7E5BB1-B668-6B8C-3513-64CFAB4012FF}"/>
              </a:ext>
            </a:extLst>
          </p:cNvPr>
          <p:cNvSpPr txBox="1"/>
          <p:nvPr/>
        </p:nvSpPr>
        <p:spPr>
          <a:xfrm>
            <a:off x="8017055" y="3982962"/>
            <a:ext cx="360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E</a:t>
            </a:r>
          </a:p>
        </p:txBody>
      </p:sp>
    </p:spTree>
    <p:extLst>
      <p:ext uri="{BB962C8B-B14F-4D97-AF65-F5344CB8AC3E}">
        <p14:creationId xmlns:p14="http://schemas.microsoft.com/office/powerpoint/2010/main" val="23702420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5754611E-A908-5ACF-48F8-6EF8D9A1294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88668" y="1825488"/>
            <a:ext cx="3723059" cy="220411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1E583EE-A86E-7BE8-F22D-BC4C6DDB33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5491"/>
            <a:ext cx="10515600" cy="1325563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Gemcitabine (</a:t>
            </a:r>
            <a:r>
              <a:rPr lang="en-US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dFdC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) metabolism differ in ploidy-dependent manner and cause alternative mode of actions (</a:t>
            </a:r>
            <a:r>
              <a:rPr lang="en-US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MoA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) in 2N and 4N SUM-159 cells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EC487E2-6D6E-5611-0167-92F299D27D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285142" y="2083790"/>
            <a:ext cx="4214958" cy="40899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DE26920-A835-F228-C5E2-89308E503F85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94975" y="4152030"/>
            <a:ext cx="3716752" cy="217149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44FA254-F397-DA29-727A-920E8316184A}"/>
              </a:ext>
            </a:extLst>
          </p:cNvPr>
          <p:cNvSpPr/>
          <p:nvPr/>
        </p:nvSpPr>
        <p:spPr>
          <a:xfrm>
            <a:off x="3089814" y="5068957"/>
            <a:ext cx="894522" cy="4572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CA6D429-4E84-8C8C-00F6-569EC660DB68}"/>
              </a:ext>
            </a:extLst>
          </p:cNvPr>
          <p:cNvSpPr/>
          <p:nvPr/>
        </p:nvSpPr>
        <p:spPr>
          <a:xfrm>
            <a:off x="4484605" y="2855844"/>
            <a:ext cx="894522" cy="4572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454BC6E-922E-56A1-020C-E23EEB80C5BF}"/>
              </a:ext>
            </a:extLst>
          </p:cNvPr>
          <p:cNvSpPr/>
          <p:nvPr/>
        </p:nvSpPr>
        <p:spPr>
          <a:xfrm>
            <a:off x="3079875" y="1948853"/>
            <a:ext cx="828224" cy="4572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5B9AD9-BBC5-B33B-7D63-12C25F31325B}"/>
              </a:ext>
            </a:extLst>
          </p:cNvPr>
          <p:cNvSpPr txBox="1"/>
          <p:nvPr/>
        </p:nvSpPr>
        <p:spPr>
          <a:xfrm>
            <a:off x="2929032" y="6022758"/>
            <a:ext cx="301686" cy="369332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BF8607-B283-A9F3-FAF1-ACFCC637E123}"/>
              </a:ext>
            </a:extLst>
          </p:cNvPr>
          <p:cNvSpPr txBox="1"/>
          <p:nvPr/>
        </p:nvSpPr>
        <p:spPr>
          <a:xfrm>
            <a:off x="2306180" y="4017091"/>
            <a:ext cx="301686" cy="369332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B41021B-A1C3-F28D-85CE-1972E1D09CD8}"/>
              </a:ext>
            </a:extLst>
          </p:cNvPr>
          <p:cNvSpPr txBox="1"/>
          <p:nvPr/>
        </p:nvSpPr>
        <p:spPr>
          <a:xfrm>
            <a:off x="10187143" y="4448970"/>
            <a:ext cx="14782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Vmax (2N) = 8.597</a:t>
            </a:r>
          </a:p>
          <a:p>
            <a:r>
              <a:rPr lang="en-US" sz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Vmax (4N) = 33.10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A2517B-24CD-285A-7830-F09ABD13A851}"/>
              </a:ext>
            </a:extLst>
          </p:cNvPr>
          <p:cNvSpPr txBox="1"/>
          <p:nvPr/>
        </p:nvSpPr>
        <p:spPr>
          <a:xfrm>
            <a:off x="8692586" y="6392090"/>
            <a:ext cx="31598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With the PK/PD Core @Moffitt</a:t>
            </a:r>
          </a:p>
        </p:txBody>
      </p:sp>
    </p:spTree>
    <p:extLst>
      <p:ext uri="{BB962C8B-B14F-4D97-AF65-F5344CB8AC3E}">
        <p14:creationId xmlns:p14="http://schemas.microsoft.com/office/powerpoint/2010/main" val="19922411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FC637-B67D-B793-544E-39D66C554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9013"/>
            <a:ext cx="10515600" cy="999225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Expanding the mathematical model for gemcitabine sensitivity with the drug PK/PD values</a:t>
            </a:r>
          </a:p>
        </p:txBody>
      </p:sp>
      <p:pic>
        <p:nvPicPr>
          <p:cNvPr id="6" name="Picture 5" descr="A mathematical equations and symbols&#10;&#10;Description automatically generated">
            <a:extLst>
              <a:ext uri="{FF2B5EF4-FFF2-40B4-BE49-F238E27FC236}">
                <a16:creationId xmlns:a16="http://schemas.microsoft.com/office/drawing/2014/main" id="{770F9E18-153B-E410-1852-1A8495A6C2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5973" y="2905883"/>
            <a:ext cx="2691573" cy="14724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E3CBA58-56F6-65E0-FE7B-706638FF3641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98601" y="2588576"/>
            <a:ext cx="3716752" cy="2171494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C05E4E3-D43A-5ADD-D28A-B7345D069AB0}"/>
              </a:ext>
            </a:extLst>
          </p:cNvPr>
          <p:cNvCxnSpPr/>
          <p:nvPr/>
        </p:nvCxnSpPr>
        <p:spPr>
          <a:xfrm flipV="1">
            <a:off x="7252758" y="2396686"/>
            <a:ext cx="300941" cy="5461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E1581B5-BDA2-2601-3DD3-B097AA3D2E80}"/>
              </a:ext>
            </a:extLst>
          </p:cNvPr>
          <p:cNvSpPr txBox="1"/>
          <p:nvPr/>
        </p:nvSpPr>
        <p:spPr>
          <a:xfrm>
            <a:off x="7691543" y="1891535"/>
            <a:ext cx="145186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Total gemcitabine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BD6FE66-D4CA-A4C2-3DA7-E764695073BE}"/>
              </a:ext>
            </a:extLst>
          </p:cNvPr>
          <p:cNvCxnSpPr>
            <a:cxnSpLocks/>
          </p:cNvCxnSpPr>
          <p:nvPr/>
        </p:nvCxnSpPr>
        <p:spPr>
          <a:xfrm>
            <a:off x="7351049" y="4267539"/>
            <a:ext cx="96994" cy="4684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261421D3-45AF-0B6C-7269-AC04D8D80334}"/>
              </a:ext>
            </a:extLst>
          </p:cNvPr>
          <p:cNvSpPr txBox="1"/>
          <p:nvPr/>
        </p:nvSpPr>
        <p:spPr>
          <a:xfrm>
            <a:off x="7461978" y="4760070"/>
            <a:ext cx="145186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Active drug (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dFdCTP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0215316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158</Words>
  <Application>Microsoft Macintosh PowerPoint</Application>
  <PresentationFormat>Widescreen</PresentationFormat>
  <Paragraphs>38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Gemcitabine sensitivity as a function of tumor ploidy</vt:lpstr>
      <vt:lpstr>Parameterization of cell cycle dynamics in the absence and presence of gemcitabine</vt:lpstr>
      <vt:lpstr>Gemcitabine (dFdC) metabolism differ in ploidy-dependent manner and cause alternative mode of actions (MoA) in 2N and 4N SUM-159 cells</vt:lpstr>
      <vt:lpstr>Expanding the mathematical model for gemcitabine sensitivity with the drug PK/PD values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Tagal, Vural</dc:creator>
  <cp:lastModifiedBy>Andor, Noemi</cp:lastModifiedBy>
  <cp:revision>3</cp:revision>
  <dcterms:created xsi:type="dcterms:W3CDTF">2024-12-03T14:11:39Z</dcterms:created>
  <dcterms:modified xsi:type="dcterms:W3CDTF">2024-12-10T23:44:46Z</dcterms:modified>
</cp:coreProperties>
</file>