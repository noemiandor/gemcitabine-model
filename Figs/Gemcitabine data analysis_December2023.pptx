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43" r:id="rId2"/>
    <p:sldId id="346" r:id="rId3"/>
    <p:sldId id="344" r:id="rId4"/>
    <p:sldId id="345" r:id="rId5"/>
    <p:sldId id="341" r:id="rId6"/>
    <p:sldId id="339" r:id="rId7"/>
    <p:sldId id="34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28BBE93-206E-390A-B955-A7243A5FA199}" name="Andor, Noemi" initials="AN" userId="S::noemi.andor@moffitt.org::a51c27ba-6172-458f-a8d4-10a72b34c6a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2"/>
    <p:restoredTop sz="96327"/>
  </p:normalViewPr>
  <p:slideViewPr>
    <p:cSldViewPr snapToGrid="0">
      <p:cViewPr varScale="1">
        <p:scale>
          <a:sx n="106" d="100"/>
          <a:sy n="106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4EE49-A431-43A6-82BB-817B98783967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A9098-8C4B-43D5-A007-15FE86CDB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9098-8C4B-43D5-A007-15FE86CDB0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27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9098-8C4B-43D5-A007-15FE86CDB0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76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9098-8C4B-43D5-A007-15FE86CDB0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64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80BA-485A-F76E-29F6-F29B2345E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FB4D5-F794-FB9F-655A-06C8125F4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8BBE7-641B-526A-2686-B259ACB9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548ED-7E01-3E1B-C1FD-D8A58838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FD4-D0AC-62CA-6E94-813012AE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1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800B-E9CB-FF24-937E-90D096D5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26C0-3D8E-BFE2-3F29-F04CE2ED1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DF4AA-F608-4935-2E6A-B2A460F7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E023E-A9A9-E75B-A3D5-359779C2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B9833-0CFD-5432-8845-16074BD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6FF9-50C0-E0CF-D9DD-E26CB3A1E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33696-FE1C-AC8F-A872-87A607AB1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137F1-18ED-DF02-DD2F-13AE7D20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73711-8FF7-05BB-94E4-3EA6CC2E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E017-6CA9-4D1F-AF87-F5EAC712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4BDC7-7D84-6517-6269-55B6C2E5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C7C36-6B87-8458-C3D6-F410E36E7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EE9B9-298B-5B68-D29E-FDE18C49A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9D84F-8319-3FD3-669F-D4ADB6F7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3252F-5A10-8C6F-0AE5-B6F3C9095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DFDD6-7417-B263-4C17-C5104FF7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10BE-C1FD-D006-055F-BEAE4243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E62B8-7F25-E86B-126D-DAA812778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4FCF2-4644-7D06-280C-3B6BC1185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2D2CA-F4DF-D1B2-7377-24F6E3D20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2BA02-126D-4661-89D3-C367A407B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642B6-C879-E736-DD39-FF4385450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68FE7-9B90-B748-DC6E-3914A865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F05B8-4B3B-B82D-6489-83CF721F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7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88CC-1860-9E71-02F6-8A2B4728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0A8EB-22BA-1A0F-87A3-1BC03298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3E4A5-9193-F576-5474-F2A18F94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27F48-7AAB-F236-85D2-8A0A4ECC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35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F9327-3461-CD4F-F571-B986B374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5D6BB-843B-C5E6-4177-AB2ED29BE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BD738-806A-3D83-7280-F6FCBD5A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7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9090-DE1F-6AA1-B62B-83940C0D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8D49E-7410-E0E1-DFE0-7E8199ACA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65AFA-7A7C-6824-1577-156DA89D9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78BA9-56B2-621C-E47E-3D8A9241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B9AF8-3C93-6A0A-82F9-C084E171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82C41-1719-BC08-1B58-21E9AEDF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0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0CE1-CA46-7C8F-F06D-D15CEE93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F085E-7D4A-C43D-E27B-88425147D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A1795-B083-36FC-0EA6-830FEB91F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8E7FE-3ACF-6340-2CAB-5087244B1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DE231-256D-B228-35DD-84299176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F4CAD-5BB3-36BF-243E-A9196E21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0BA3-03F2-C216-740C-9C5C3B33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31932-9109-607F-3099-92035A0FE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F1BC1-39C8-2B17-E6A9-26B6D3CB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03ED8-6E22-6FA7-94DF-86CF0FDF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1E70C-006C-A94E-C66C-CE37C866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3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76E180-EA24-138E-9226-6285293C5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FDA6C-26D9-15FC-2573-C485E3C3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C8DCD-0371-027C-082A-1008E529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F2A6B-0B35-4E34-F818-E9B6D1F5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C1A57-588A-121A-EE3E-A9E67DF5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3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B8AFA-B23D-8433-20B4-56DD89C20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400EB-4883-0790-BD45-A8AC1E8FD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1216B-2874-4B94-FD66-78E33D980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6068E-FFA0-1242-96FA-B3B54A0B8A10}" type="datetimeFigureOut">
              <a:rPr lang="en-US" smtClean="0"/>
              <a:t>12/22/23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41CA-6EF4-46F6-897F-8C07C6344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9AEFF-0B88-78B4-F8CF-EE03490F1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F5915-2152-254F-8F23-A2662FA8E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8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918273-6F7D-90B7-58AF-D7C91321D9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89" t="6232" b="22029"/>
          <a:stretch/>
        </p:blipFill>
        <p:spPr>
          <a:xfrm>
            <a:off x="2980459" y="215592"/>
            <a:ext cx="6231082" cy="642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4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231B-5E32-4244-DB1F-33B6D3A9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031AD-2926-1584-AFBE-618905BBD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10-6 P1: …</a:t>
            </a:r>
          </a:p>
          <a:p>
            <a:r>
              <a:rPr lang="en-US" sz="2800" dirty="0"/>
              <a:t>10-6 P2: …</a:t>
            </a:r>
            <a:endParaRPr lang="en-US" dirty="0"/>
          </a:p>
          <a:p>
            <a:r>
              <a:rPr lang="en-US" sz="2800" dirty="0"/>
              <a:t>12-14 P1: …</a:t>
            </a:r>
            <a:endParaRPr lang="en-US" dirty="0"/>
          </a:p>
          <a:p>
            <a:r>
              <a:rPr lang="en-US" sz="2800" dirty="0"/>
              <a:t>12-14 P2: …</a:t>
            </a:r>
          </a:p>
          <a:p>
            <a:r>
              <a:rPr lang="en-US" sz="2800" dirty="0"/>
              <a:t>12-18 P3: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8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001638-006B-C489-2067-19971AFFC2DC}"/>
              </a:ext>
            </a:extLst>
          </p:cNvPr>
          <p:cNvSpPr txBox="1"/>
          <p:nvPr/>
        </p:nvSpPr>
        <p:spPr>
          <a:xfrm>
            <a:off x="243133" y="237729"/>
            <a:ext cx="116754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E2_1_T=50_App=1001_Disapp=1.5                   10-6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9839F-8710-0314-DDAD-21C12A4B5692}"/>
              </a:ext>
            </a:extLst>
          </p:cNvPr>
          <p:cNvSpPr txBox="1"/>
          <p:nvPr/>
        </p:nvSpPr>
        <p:spPr>
          <a:xfrm>
            <a:off x="1094763" y="1011416"/>
            <a:ext cx="1514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Live Cells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1F266-0975-183D-4197-7E0BBCD965B1}"/>
              </a:ext>
            </a:extLst>
          </p:cNvPr>
          <p:cNvSpPr txBox="1"/>
          <p:nvPr/>
        </p:nvSpPr>
        <p:spPr>
          <a:xfrm>
            <a:off x="9141908" y="1011416"/>
            <a:ext cx="218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Dividing 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DC0F4-08A8-4BF2-C1B0-C452ABDE8562}"/>
              </a:ext>
            </a:extLst>
          </p:cNvPr>
          <p:cNvSpPr txBox="1"/>
          <p:nvPr/>
        </p:nvSpPr>
        <p:spPr>
          <a:xfrm>
            <a:off x="3315698" y="1626695"/>
            <a:ext cx="2751993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0.90516 )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104)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D910B-2157-DF84-5DFD-91770F0D91D0}"/>
              </a:ext>
            </a:extLst>
          </p:cNvPr>
          <p:cNvSpPr txBox="1"/>
          <p:nvPr/>
        </p:nvSpPr>
        <p:spPr>
          <a:xfrm>
            <a:off x="5498554" y="4382704"/>
            <a:ext cx="2919047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-0.01414354 )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28.19231)</a:t>
            </a:r>
          </a:p>
        </p:txBody>
      </p:sp>
      <p:pic>
        <p:nvPicPr>
          <p:cNvPr id="13" name="Picture 12" descr="A graph of hand count and hand count&#10;&#10;Description automatically generated">
            <a:extLst>
              <a:ext uri="{FF2B5EF4-FFF2-40B4-BE49-F238E27FC236}">
                <a16:creationId xmlns:a16="http://schemas.microsoft.com/office/drawing/2014/main" id="{8F75435F-EF40-0085-D0AF-7A0AADDC79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594" t="27152" r="1661" b="29543"/>
          <a:stretch/>
        </p:blipFill>
        <p:spPr>
          <a:xfrm>
            <a:off x="7581350" y="1433407"/>
            <a:ext cx="836251" cy="20837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7A7C2D-DC69-5C1E-ED3F-D8A1E57DFC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94" t="7997" r="54066"/>
          <a:stretch/>
        </p:blipFill>
        <p:spPr>
          <a:xfrm>
            <a:off x="66363" y="1534636"/>
            <a:ext cx="3317108" cy="44576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027F5F-C244-7017-4442-0DAAC73747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94" t="7997" r="54066" b="1358"/>
          <a:stretch/>
        </p:blipFill>
        <p:spPr>
          <a:xfrm>
            <a:off x="8808529" y="1534636"/>
            <a:ext cx="3317108" cy="439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2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001638-006B-C489-2067-19971AFFC2DC}"/>
              </a:ext>
            </a:extLst>
          </p:cNvPr>
          <p:cNvSpPr txBox="1"/>
          <p:nvPr/>
        </p:nvSpPr>
        <p:spPr>
          <a:xfrm>
            <a:off x="229954" y="239852"/>
            <a:ext cx="116754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/>
              <a:t>E2_1_T=50_App=1001_Disapp=1001                10-6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9839F-8710-0314-DDAD-21C12A4B5692}"/>
              </a:ext>
            </a:extLst>
          </p:cNvPr>
          <p:cNvSpPr txBox="1"/>
          <p:nvPr/>
        </p:nvSpPr>
        <p:spPr>
          <a:xfrm>
            <a:off x="1094763" y="1011416"/>
            <a:ext cx="1514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Live Cells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1F266-0975-183D-4197-7E0BBCD965B1}"/>
              </a:ext>
            </a:extLst>
          </p:cNvPr>
          <p:cNvSpPr txBox="1"/>
          <p:nvPr/>
        </p:nvSpPr>
        <p:spPr>
          <a:xfrm>
            <a:off x="9141908" y="1011416"/>
            <a:ext cx="218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Dividing 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DC0F4-08A8-4BF2-C1B0-C452ABDE8562}"/>
              </a:ext>
            </a:extLst>
          </p:cNvPr>
          <p:cNvSpPr txBox="1"/>
          <p:nvPr/>
        </p:nvSpPr>
        <p:spPr>
          <a:xfrm>
            <a:off x="3315698" y="1626695"/>
            <a:ext cx="2751993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0.8980128)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137.1429)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D910B-2157-DF84-5DFD-91770F0D91D0}"/>
              </a:ext>
            </a:extLst>
          </p:cNvPr>
          <p:cNvSpPr txBox="1"/>
          <p:nvPr/>
        </p:nvSpPr>
        <p:spPr>
          <a:xfrm>
            <a:off x="5498554" y="4382704"/>
            <a:ext cx="2919047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0.08850193)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7.269231)</a:t>
            </a:r>
          </a:p>
        </p:txBody>
      </p:sp>
      <p:pic>
        <p:nvPicPr>
          <p:cNvPr id="13" name="Picture 12" descr="A graph of hand count and hand count&#10;&#10;Description automatically generated">
            <a:extLst>
              <a:ext uri="{FF2B5EF4-FFF2-40B4-BE49-F238E27FC236}">
                <a16:creationId xmlns:a16="http://schemas.microsoft.com/office/drawing/2014/main" id="{8F75435F-EF40-0085-D0AF-7A0AADDC79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594" t="27152" r="1661" b="29543"/>
          <a:stretch/>
        </p:blipFill>
        <p:spPr>
          <a:xfrm>
            <a:off x="7581350" y="1433407"/>
            <a:ext cx="836251" cy="20837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62744C-8996-1D4E-CF2D-7BF5D5DA9F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337" t="8054" r="11250"/>
          <a:stretch/>
        </p:blipFill>
        <p:spPr>
          <a:xfrm>
            <a:off x="169650" y="1626695"/>
            <a:ext cx="3146048" cy="4426625"/>
          </a:xfrm>
          <a:prstGeom prst="rect">
            <a:avLst/>
          </a:prstGeom>
        </p:spPr>
      </p:pic>
      <p:sp>
        <p:nvSpPr>
          <p:cNvPr id="10" name="AutoShape 4">
            <a:extLst>
              <a:ext uri="{FF2B5EF4-FFF2-40B4-BE49-F238E27FC236}">
                <a16:creationId xmlns:a16="http://schemas.microsoft.com/office/drawing/2014/main" id="{3B160F12-F9D3-9B5D-6764-324E8501A7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C6A3A1-9ABD-C996-6D8B-585D7631DE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483" t="6321" r="11250" b="1358"/>
          <a:stretch/>
        </p:blipFill>
        <p:spPr>
          <a:xfrm>
            <a:off x="8805964" y="1534636"/>
            <a:ext cx="3286704" cy="46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0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D6390B-4F39-8785-ECB4-532AD16223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001638-006B-C489-2067-19971AFFC2DC}"/>
              </a:ext>
            </a:extLst>
          </p:cNvPr>
          <p:cNvSpPr txBox="1"/>
          <p:nvPr/>
        </p:nvSpPr>
        <p:spPr>
          <a:xfrm>
            <a:off x="243133" y="237729"/>
            <a:ext cx="2189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P1 12-14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4F3DE-2FF2-099E-DAE9-A98FB03650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70" t="7039" r="11185" b="2398"/>
          <a:stretch/>
        </p:blipFill>
        <p:spPr>
          <a:xfrm>
            <a:off x="8417601" y="1534636"/>
            <a:ext cx="3501006" cy="4779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7EF916-F4CA-DA71-56EB-DDE224E9DF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19" t="7491" r="54855" b="1945"/>
          <a:stretch/>
        </p:blipFill>
        <p:spPr>
          <a:xfrm>
            <a:off x="63481" y="1538882"/>
            <a:ext cx="3252217" cy="4439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19839F-8710-0314-DDAD-21C12A4B5692}"/>
              </a:ext>
            </a:extLst>
          </p:cNvPr>
          <p:cNvSpPr txBox="1"/>
          <p:nvPr/>
        </p:nvSpPr>
        <p:spPr>
          <a:xfrm>
            <a:off x="1094763" y="1011416"/>
            <a:ext cx="1514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Live Cells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1F266-0975-183D-4197-7E0BBCD965B1}"/>
              </a:ext>
            </a:extLst>
          </p:cNvPr>
          <p:cNvSpPr txBox="1"/>
          <p:nvPr/>
        </p:nvSpPr>
        <p:spPr>
          <a:xfrm>
            <a:off x="9141908" y="1011416"/>
            <a:ext cx="218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Dividing 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DC0F4-08A8-4BF2-C1B0-C452ABDE8562}"/>
              </a:ext>
            </a:extLst>
          </p:cNvPr>
          <p:cNvSpPr txBox="1"/>
          <p:nvPr/>
        </p:nvSpPr>
        <p:spPr>
          <a:xfrm>
            <a:off x="3315698" y="1626695"/>
            <a:ext cx="2751993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</a:t>
            </a:r>
            <a:r>
              <a:rPr lang="en-US" dirty="0">
                <a:solidFill>
                  <a:schemeClr val="bg1"/>
                </a:solidFill>
              </a:rPr>
              <a:t>0.7601517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</a:t>
            </a:r>
            <a:r>
              <a:rPr lang="en-US" dirty="0">
                <a:solidFill>
                  <a:schemeClr val="bg1"/>
                </a:solidFill>
              </a:rPr>
              <a:t>53.42857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ED910B-2157-DF84-5DFD-91770F0D91D0}"/>
              </a:ext>
            </a:extLst>
          </p:cNvPr>
          <p:cNvSpPr txBox="1"/>
          <p:nvPr/>
        </p:nvSpPr>
        <p:spPr>
          <a:xfrm>
            <a:off x="5498554" y="4382704"/>
            <a:ext cx="2919047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</a:t>
            </a:r>
            <a:r>
              <a:rPr lang="en-US" dirty="0">
                <a:solidFill>
                  <a:schemeClr val="bg1"/>
                </a:solidFill>
              </a:rPr>
              <a:t>-0.05475514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</a:t>
            </a:r>
            <a:r>
              <a:rPr lang="en-US" dirty="0">
                <a:solidFill>
                  <a:schemeClr val="bg1"/>
                </a:solidFill>
              </a:rPr>
              <a:t>7.730769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)</a:t>
            </a:r>
          </a:p>
        </p:txBody>
      </p:sp>
      <p:pic>
        <p:nvPicPr>
          <p:cNvPr id="13" name="Picture 12" descr="A graph of hand count and hand count&#10;&#10;Description automatically generated">
            <a:extLst>
              <a:ext uri="{FF2B5EF4-FFF2-40B4-BE49-F238E27FC236}">
                <a16:creationId xmlns:a16="http://schemas.microsoft.com/office/drawing/2014/main" id="{8F75435F-EF40-0085-D0AF-7A0AADDC79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7594" t="27152" r="1661" b="29543"/>
          <a:stretch/>
        </p:blipFill>
        <p:spPr>
          <a:xfrm>
            <a:off x="7581350" y="1433407"/>
            <a:ext cx="836251" cy="208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7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C8F066E7-DD1C-38DF-8D3F-155B6A6C7C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7A29F-C12A-71A7-ABD8-309AB626F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6" t="7926" r="54759" b="2222"/>
          <a:stretch/>
        </p:blipFill>
        <p:spPr>
          <a:xfrm>
            <a:off x="0" y="1623969"/>
            <a:ext cx="3601992" cy="4827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F29684-49ED-5147-FB2A-033558E638A6}"/>
              </a:ext>
            </a:extLst>
          </p:cNvPr>
          <p:cNvSpPr txBox="1"/>
          <p:nvPr/>
        </p:nvSpPr>
        <p:spPr>
          <a:xfrm>
            <a:off x="290146" y="282348"/>
            <a:ext cx="4236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P2 12-14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AFB4A6-9166-F325-B308-571D688BBF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56" t="7334" r="55171" b="2815"/>
          <a:stretch/>
        </p:blipFill>
        <p:spPr>
          <a:xfrm>
            <a:off x="8590008" y="1548110"/>
            <a:ext cx="3601992" cy="49037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5E5821-38A8-2F26-8DE0-89571622930A}"/>
              </a:ext>
            </a:extLst>
          </p:cNvPr>
          <p:cNvSpPr txBox="1"/>
          <p:nvPr/>
        </p:nvSpPr>
        <p:spPr>
          <a:xfrm>
            <a:off x="1361113" y="1100749"/>
            <a:ext cx="1514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Live Cells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D1251-DD49-1482-6F1D-35C3EEBEE7A9}"/>
              </a:ext>
            </a:extLst>
          </p:cNvPr>
          <p:cNvSpPr txBox="1"/>
          <p:nvPr/>
        </p:nvSpPr>
        <p:spPr>
          <a:xfrm>
            <a:off x="9296240" y="1024890"/>
            <a:ext cx="218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Dividing Cells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21BB5-CE33-A2B0-4596-C894671A7CE3}"/>
              </a:ext>
            </a:extLst>
          </p:cNvPr>
          <p:cNvSpPr txBox="1"/>
          <p:nvPr/>
        </p:nvSpPr>
        <p:spPr>
          <a:xfrm>
            <a:off x="3601992" y="1688123"/>
            <a:ext cx="2754845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</a:t>
            </a:r>
            <a:r>
              <a:rPr lang="en-US" dirty="0">
                <a:solidFill>
                  <a:schemeClr val="bg1"/>
                </a:solidFill>
              </a:rPr>
              <a:t>0.7705258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</a:t>
            </a:r>
            <a:r>
              <a:rPr lang="en-US" dirty="0">
                <a:solidFill>
                  <a:schemeClr val="bg1"/>
                </a:solidFill>
              </a:rPr>
              <a:t>65.28571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D306BC-2647-7721-D3FF-3754952E0320}"/>
              </a:ext>
            </a:extLst>
          </p:cNvPr>
          <p:cNvSpPr txBox="1"/>
          <p:nvPr/>
        </p:nvSpPr>
        <p:spPr>
          <a:xfrm>
            <a:off x="5835163" y="4571226"/>
            <a:ext cx="2754845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</a:t>
            </a:r>
            <a:r>
              <a:rPr lang="en-US" dirty="0">
                <a:solidFill>
                  <a:schemeClr val="bg1"/>
                </a:solidFill>
              </a:rPr>
              <a:t>-0.0270048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</a:t>
            </a:r>
            <a:r>
              <a:rPr lang="en-US" dirty="0">
                <a:solidFill>
                  <a:schemeClr val="bg1"/>
                </a:solidFill>
              </a:rPr>
              <a:t>7.5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)</a:t>
            </a:r>
          </a:p>
        </p:txBody>
      </p:sp>
      <p:pic>
        <p:nvPicPr>
          <p:cNvPr id="16" name="Picture 15" descr="A graph of hand count and hand count&#10;&#10;Description automatically generated">
            <a:extLst>
              <a:ext uri="{FF2B5EF4-FFF2-40B4-BE49-F238E27FC236}">
                <a16:creationId xmlns:a16="http://schemas.microsoft.com/office/drawing/2014/main" id="{CC627925-0755-1001-7EB2-B5309C69AF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7594" t="27152" r="1661" b="29543"/>
          <a:stretch/>
        </p:blipFill>
        <p:spPr>
          <a:xfrm>
            <a:off x="7753757" y="1501218"/>
            <a:ext cx="836251" cy="208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6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F2704A-7D9E-7AB7-B4EE-80542D31BC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12" t="7778" r="11149" b="2074"/>
          <a:stretch/>
        </p:blipFill>
        <p:spPr>
          <a:xfrm>
            <a:off x="222306" y="1538882"/>
            <a:ext cx="3414319" cy="4622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45E3FB-3D25-0E36-169D-0269304B5D69}"/>
              </a:ext>
            </a:extLst>
          </p:cNvPr>
          <p:cNvSpPr txBox="1"/>
          <p:nvPr/>
        </p:nvSpPr>
        <p:spPr>
          <a:xfrm>
            <a:off x="404446" y="246221"/>
            <a:ext cx="4211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P3 12-18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C013ADD-9839-021D-DB7F-B268E11367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5CB430-ED87-26D2-42FC-A1C71F031C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169" t="7334" r="11194" b="1481"/>
          <a:stretch/>
        </p:blipFill>
        <p:spPr>
          <a:xfrm>
            <a:off x="8555373" y="1538882"/>
            <a:ext cx="3414319" cy="47331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A25C73-40AE-AAAD-5AA3-A7E95B5A20D0}"/>
              </a:ext>
            </a:extLst>
          </p:cNvPr>
          <p:cNvSpPr txBox="1"/>
          <p:nvPr/>
        </p:nvSpPr>
        <p:spPr>
          <a:xfrm>
            <a:off x="9167769" y="1015662"/>
            <a:ext cx="218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Dividing Cells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71BF00-E197-A796-73D1-4A7D7D1E0DF4}"/>
              </a:ext>
            </a:extLst>
          </p:cNvPr>
          <p:cNvSpPr txBox="1"/>
          <p:nvPr/>
        </p:nvSpPr>
        <p:spPr>
          <a:xfrm>
            <a:off x="1172360" y="1015662"/>
            <a:ext cx="1514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Live Cells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85C90-04EC-A49C-8046-31BCA02BA503}"/>
              </a:ext>
            </a:extLst>
          </p:cNvPr>
          <p:cNvSpPr txBox="1"/>
          <p:nvPr/>
        </p:nvSpPr>
        <p:spPr>
          <a:xfrm>
            <a:off x="3636625" y="1610745"/>
            <a:ext cx="2764174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</a:t>
            </a:r>
            <a:r>
              <a:rPr lang="en-US" dirty="0">
                <a:solidFill>
                  <a:schemeClr val="bg1"/>
                </a:solidFill>
              </a:rPr>
              <a:t>0.7625212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</a:t>
            </a:r>
            <a:r>
              <a:rPr lang="en-US" dirty="0">
                <a:solidFill>
                  <a:schemeClr val="bg1"/>
                </a:solidFill>
              </a:rPr>
              <a:t>50.7619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69460C-A154-6F15-90DD-88A680133832}"/>
              </a:ext>
            </a:extLst>
          </p:cNvPr>
          <p:cNvSpPr txBox="1"/>
          <p:nvPr/>
        </p:nvSpPr>
        <p:spPr>
          <a:xfrm>
            <a:off x="5514756" y="4279566"/>
            <a:ext cx="3040617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pearson</a:t>
            </a:r>
            <a:r>
              <a:rPr lang="en-US" sz="1800" dirty="0">
                <a:solidFill>
                  <a:schemeClr val="bg1"/>
                </a:solidFill>
              </a:rPr>
              <a:t> correlation coefficient (r = </a:t>
            </a:r>
            <a:r>
              <a:rPr lang="en-US" dirty="0">
                <a:solidFill>
                  <a:schemeClr val="bg1"/>
                </a:solidFill>
              </a:rPr>
              <a:t>-0.268958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mean absolute error </a:t>
            </a:r>
          </a:p>
          <a:p>
            <a:r>
              <a:rPr lang="en-US" sz="1800" i="0" dirty="0">
                <a:solidFill>
                  <a:schemeClr val="bg1"/>
                </a:solidFill>
                <a:effectLst/>
              </a:rPr>
              <a:t>(MAE = </a:t>
            </a:r>
            <a:r>
              <a:rPr lang="en-US" dirty="0">
                <a:solidFill>
                  <a:schemeClr val="bg1"/>
                </a:solidFill>
              </a:rPr>
              <a:t>24</a:t>
            </a:r>
            <a:r>
              <a:rPr lang="en-US" sz="1800" i="0" dirty="0">
                <a:solidFill>
                  <a:schemeClr val="bg1"/>
                </a:solidFill>
                <a:effectLst/>
              </a:rPr>
              <a:t>)</a:t>
            </a:r>
          </a:p>
        </p:txBody>
      </p:sp>
      <p:pic>
        <p:nvPicPr>
          <p:cNvPr id="18" name="Picture 17" descr="A graph of hand count and hand count&#10;&#10;Description automatically generated">
            <a:extLst>
              <a:ext uri="{FF2B5EF4-FFF2-40B4-BE49-F238E27FC236}">
                <a16:creationId xmlns:a16="http://schemas.microsoft.com/office/drawing/2014/main" id="{EE98D4A6-DE73-2D6D-FEB1-5043161E56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7594" t="27152" r="1661" b="29543"/>
          <a:stretch/>
        </p:blipFill>
        <p:spPr>
          <a:xfrm>
            <a:off x="7607195" y="1415562"/>
            <a:ext cx="836251" cy="208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16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10752</TotalTime>
  <Words>245</Words>
  <Application>Microsoft Macintosh PowerPoint</Application>
  <PresentationFormat>Widescreen</PresentationFormat>
  <Paragraphs>64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Pipelines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MEMIC Project Design</dc:title>
  <dc:creator>Cole, Jackson P</dc:creator>
  <cp:lastModifiedBy>Andor, Noemi</cp:lastModifiedBy>
  <cp:revision>13</cp:revision>
  <dcterms:created xsi:type="dcterms:W3CDTF">2023-12-11T14:57:10Z</dcterms:created>
  <dcterms:modified xsi:type="dcterms:W3CDTF">2023-12-22T19:21:39Z</dcterms:modified>
</cp:coreProperties>
</file>