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493" r:id="rId2"/>
    <p:sldId id="489" r:id="rId3"/>
    <p:sldId id="490" r:id="rId4"/>
    <p:sldId id="491" r:id="rId5"/>
    <p:sldId id="488" r:id="rId6"/>
    <p:sldId id="492" r:id="rId7"/>
    <p:sldId id="49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9CDB3B-E22A-9749-8A26-219BFD089744}" v="43" dt="2023-04-24T23:14:16.3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80"/>
    <p:restoredTop sz="73085"/>
  </p:normalViewPr>
  <p:slideViewPr>
    <p:cSldViewPr snapToGrid="0">
      <p:cViewPr varScale="1">
        <p:scale>
          <a:sx n="116" d="100"/>
          <a:sy n="116" d="100"/>
        </p:scale>
        <p:origin x="160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0D9EB3-2442-104C-8C40-2AA91439AD07}" type="datetimeFigureOut">
              <a:rPr lang="en-US" smtClean="0"/>
              <a:t>4/27/23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ABC38C-A85F-C840-83D1-773BAD8D81E7}" type="slidenum">
              <a:rPr lang="en-US" smtClean="0"/>
              <a:t>‹#›</a:t>
            </a:fld>
            <a:endParaRPr lang="en-US"/>
          </a:p>
        </p:txBody>
      </p:sp>
    </p:spTree>
    <p:extLst>
      <p:ext uri="{BB962C8B-B14F-4D97-AF65-F5344CB8AC3E}">
        <p14:creationId xmlns:p14="http://schemas.microsoft.com/office/powerpoint/2010/main" val="3646657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rPr>
              <a:t>These data suggests that Gemcitabine r</a:t>
            </a:r>
            <a:r>
              <a:rPr lang="en-US" b="0" i="0" dirty="0">
                <a:effectLst/>
                <a:latin typeface="Arial" panose="020B0604020202020204" pitchFamily="34" charset="0"/>
              </a:rPr>
              <a:t>esistance is a function of how effectively tumor cells can enter the polyploid state in response to a given drug concentration. We hypothesize that…</a:t>
            </a:r>
            <a:endParaRPr lang="en-US" dirty="0"/>
          </a:p>
          <a:p>
            <a:endParaRPr lang="en-US" dirty="0"/>
          </a:p>
        </p:txBody>
      </p:sp>
      <p:sp>
        <p:nvSpPr>
          <p:cNvPr id="4" name="Slide Number Placeholder 3"/>
          <p:cNvSpPr>
            <a:spLocks noGrp="1"/>
          </p:cNvSpPr>
          <p:nvPr>
            <p:ph type="sldNum" sz="quarter" idx="5"/>
          </p:nvPr>
        </p:nvSpPr>
        <p:spPr/>
        <p:txBody>
          <a:bodyPr/>
          <a:lstStyle/>
          <a:p>
            <a:fld id="{98ABC38C-A85F-C840-83D1-773BAD8D81E7}" type="slidenum">
              <a:rPr lang="en-US" smtClean="0"/>
              <a:t>1</a:t>
            </a:fld>
            <a:endParaRPr lang="en-US"/>
          </a:p>
        </p:txBody>
      </p:sp>
    </p:spTree>
    <p:extLst>
      <p:ext uri="{BB962C8B-B14F-4D97-AF65-F5344CB8AC3E}">
        <p14:creationId xmlns:p14="http://schemas.microsoft.com/office/powerpoint/2010/main" val="2211331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model the change in the concentration of cell </a:t>
            </a:r>
            <a:r>
              <a:rPr lang="en-US" dirty="0" err="1"/>
              <a:t>P_i</a:t>
            </a:r>
            <a:r>
              <a:rPr lang="en-US" dirty="0"/>
              <a:t> that have skipped anywhere between 0 and 2 rounds of mitosis</a:t>
            </a:r>
          </a:p>
          <a:p>
            <a:pPr marL="171450" indent="-171450">
              <a:buFont typeface="Arial" panose="020B0604020202020204" pitchFamily="34" charset="0"/>
              <a:buChar char="•"/>
            </a:pPr>
            <a:r>
              <a:rPr lang="en-US" dirty="0"/>
              <a:t>First term are cells leaving the compartment i-1, thus ending up in compartment </a:t>
            </a:r>
            <a:r>
              <a:rPr lang="en-US" dirty="0" err="1"/>
              <a:t>P_i</a:t>
            </a: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Second term are cells leaving the compartment </a:t>
            </a:r>
            <a:r>
              <a:rPr lang="en-US" dirty="0" err="1"/>
              <a:t>i</a:t>
            </a:r>
            <a:r>
              <a:rPr lang="en-US" dirty="0"/>
              <a:t>, thus ending up in compartment P_i+1</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Third and last term we have cell death and proliferation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rates at which cells </a:t>
            </a:r>
            <a:r>
              <a:rPr lang="en-US" dirty="0" err="1"/>
              <a:t>endoreplicate</a:t>
            </a:r>
            <a:r>
              <a:rPr lang="en-US" dirty="0"/>
              <a:t>, die and proliferate (k, d, and alpha respectively) are all functions of two parameters: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number of mitosis these cells have already skipped (</a:t>
            </a:r>
            <a:r>
              <a:rPr lang="en-US" dirty="0" err="1"/>
              <a:t>i</a:t>
            </a:r>
            <a:r>
              <a:rPr lang="en-US" dirty="0"/>
              <a:t>) and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Drug concentration x</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a fixed drug concentration x, our initial guess for d looks as follows:  the higher the number of skipped mitoses, the lower the  cell death rate. We assume that the same relationship holds for both SUM-159 lineages (2N cells and 4N cells). Though note that none of the 4N cells will have 0 skipped mitoses. So even though the relationship is identical, their effective death rate will be different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cell proliferation, we know that under normal circumstances, cells that have skipped one or more mitoses don’t proliferate. So proliferation will be positive if and only if </a:t>
            </a:r>
            <a:r>
              <a:rPr lang="en-US" dirty="0" err="1"/>
              <a:t>i</a:t>
            </a:r>
            <a:r>
              <a:rPr lang="en-US" dirty="0"/>
              <a:t>=0. At the same time we know that our 4N sum-159 cells do in fact proliferate happily. So for this cell type we allow proliferation to be positive if </a:t>
            </a:r>
            <a:r>
              <a:rPr lang="en-US" dirty="0" err="1"/>
              <a:t>i</a:t>
            </a:r>
            <a:r>
              <a:rPr lang="en-US" dirty="0"/>
              <a:t>&lt;=1.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finally endoreplication rate. Here our initial guess is that the more mitoses a cell has skipped, the less likely it is that yet another endoreplication will happen. And here we assume that this relationship differs between our 2N and 4N sum-159 cells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Again, shown here are examples of these function for a fixed drug concentration of 500. We will now show preliminary results of fitting this model to data to obtain estimates of a, w, v_2N and v_4N (which will tell us how these functions will shift along the y axes)</a:t>
            </a:r>
          </a:p>
          <a:p>
            <a:r>
              <a:rPr lang="en-US" dirty="0"/>
              <a:t>  </a:t>
            </a:r>
          </a:p>
        </p:txBody>
      </p:sp>
      <p:sp>
        <p:nvSpPr>
          <p:cNvPr id="4" name="Slide Number Placeholder 3"/>
          <p:cNvSpPr>
            <a:spLocks noGrp="1"/>
          </p:cNvSpPr>
          <p:nvPr>
            <p:ph type="sldNum" sz="quarter" idx="5"/>
          </p:nvPr>
        </p:nvSpPr>
        <p:spPr/>
        <p:txBody>
          <a:bodyPr/>
          <a:lstStyle/>
          <a:p>
            <a:fld id="{98ABC38C-A85F-C840-83D1-773BAD8D81E7}" type="slidenum">
              <a:rPr lang="en-US" smtClean="0"/>
              <a:t>4</a:t>
            </a:fld>
            <a:endParaRPr lang="en-US"/>
          </a:p>
        </p:txBody>
      </p:sp>
    </p:spTree>
    <p:extLst>
      <p:ext uri="{BB962C8B-B14F-4D97-AF65-F5344CB8AC3E}">
        <p14:creationId xmlns:p14="http://schemas.microsoft.com/office/powerpoint/2010/main" val="3818592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Xx</a:t>
            </a:r>
            <a:r>
              <a:rPr lang="en-US" dirty="0"/>
              <a:t>: describe data/</a:t>
            </a:r>
            <a:r>
              <a:rPr lang="en-US" dirty="0" err="1"/>
              <a:t>measurments</a:t>
            </a:r>
            <a:r>
              <a:rPr lang="en-US" dirty="0"/>
              <a:t> , perhaps show a few images from the </a:t>
            </a:r>
            <a:r>
              <a:rPr lang="en-US" dirty="0" err="1"/>
              <a:t>Incucyte</a:t>
            </a:r>
            <a:r>
              <a:rPr lang="en-US" dirty="0"/>
              <a:t> and the classification results from Mahmoud.</a:t>
            </a:r>
          </a:p>
          <a:p>
            <a:endParaRPr lang="en-US" dirty="0"/>
          </a:p>
          <a:p>
            <a:r>
              <a:rPr lang="en-US" dirty="0"/>
              <a:t>Data is fresh from the oven, preliminary segmentation results shown here are from late last week, we are still working on improving segmentation and classification, but we did attempt to fit model to the data from just these two wells</a:t>
            </a:r>
          </a:p>
        </p:txBody>
      </p:sp>
      <p:sp>
        <p:nvSpPr>
          <p:cNvPr id="4" name="Slide Number Placeholder 3"/>
          <p:cNvSpPr>
            <a:spLocks noGrp="1"/>
          </p:cNvSpPr>
          <p:nvPr>
            <p:ph type="sldNum" sz="quarter" idx="5"/>
          </p:nvPr>
        </p:nvSpPr>
        <p:spPr/>
        <p:txBody>
          <a:bodyPr/>
          <a:lstStyle/>
          <a:p>
            <a:fld id="{98ABC38C-A85F-C840-83D1-773BAD8D81E7}" type="slidenum">
              <a:rPr lang="en-US" smtClean="0"/>
              <a:t>5</a:t>
            </a:fld>
            <a:endParaRPr lang="en-US"/>
          </a:p>
        </p:txBody>
      </p:sp>
    </p:spTree>
    <p:extLst>
      <p:ext uri="{BB962C8B-B14F-4D97-AF65-F5344CB8AC3E}">
        <p14:creationId xmlns:p14="http://schemas.microsoft.com/office/powerpoint/2010/main" val="32954066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and the model fit the data reasonably well, especially for 4N cells on the right</a:t>
            </a:r>
          </a:p>
          <a:p>
            <a:endParaRPr lang="en-US" dirty="0"/>
          </a:p>
          <a:p>
            <a:r>
              <a:rPr lang="en-US" dirty="0"/>
              <a:t>Curves are the different ploidy compartments P0, P1 and P2 with 0 1 and 2 skipped mitoses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Data points are the measurements M0 M1 M2, again for 0 1 and 2 skipped mitoses</a:t>
            </a:r>
          </a:p>
          <a:p>
            <a:endParaRPr lang="en-US" dirty="0"/>
          </a:p>
          <a:p>
            <a:r>
              <a:rPr lang="en-US" dirty="0"/>
              <a:t>A reminder: we assume that the same relationship between number of skipped mitosis and death rate holds for both 2N and 4N cells  and that none of the two cell types can proliferate if they have skipped more than 1 mitosis. For 2N cells threshold is even lower, 0 mitoses</a:t>
            </a:r>
          </a:p>
          <a:p>
            <a:endParaRPr lang="en-US" dirty="0"/>
          </a:p>
          <a:p>
            <a:r>
              <a:rPr lang="en-US" dirty="0"/>
              <a:t>So the interesting behavior we were after was not the death and proliferation rate, but how these two cell types differ in the rate they </a:t>
            </a:r>
            <a:r>
              <a:rPr lang="en-US" dirty="0" err="1"/>
              <a:t>endereplicate</a:t>
            </a:r>
            <a:r>
              <a:rPr lang="en-US" dirty="0"/>
              <a:t> – which is determined by the parameter v. Inferred value for parameter v is almost 4 times as high for 4N cells than for 2N cells at this particular drug concentration. Which means the polyploid (resistant) state is more accessible to these 4N cells.</a:t>
            </a:r>
          </a:p>
          <a:p>
            <a:endParaRPr lang="en-US" dirty="0"/>
          </a:p>
          <a:p>
            <a:r>
              <a:rPr lang="en-US" dirty="0"/>
              <a:t>Plan is to test this model on multiple pairs of proliferating 4N and 2N cells -- If the value of parameter v turns out to be a function of cell type, then ploidy of a cancer could inform model parameter and enable predictive modeling of response to various drug concentrations </a:t>
            </a:r>
          </a:p>
        </p:txBody>
      </p:sp>
      <p:sp>
        <p:nvSpPr>
          <p:cNvPr id="4" name="Slide Number Placeholder 3"/>
          <p:cNvSpPr>
            <a:spLocks noGrp="1"/>
          </p:cNvSpPr>
          <p:nvPr>
            <p:ph type="sldNum" sz="quarter" idx="5"/>
          </p:nvPr>
        </p:nvSpPr>
        <p:spPr/>
        <p:txBody>
          <a:bodyPr/>
          <a:lstStyle/>
          <a:p>
            <a:fld id="{98ABC38C-A85F-C840-83D1-773BAD8D81E7}" type="slidenum">
              <a:rPr lang="en-US" smtClean="0"/>
              <a:t>6</a:t>
            </a:fld>
            <a:endParaRPr lang="en-US"/>
          </a:p>
        </p:txBody>
      </p:sp>
    </p:spTree>
    <p:extLst>
      <p:ext uri="{BB962C8B-B14F-4D97-AF65-F5344CB8AC3E}">
        <p14:creationId xmlns:p14="http://schemas.microsoft.com/office/powerpoint/2010/main" val="1635873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Other next steps include: …</a:t>
            </a:r>
          </a:p>
        </p:txBody>
      </p:sp>
      <p:sp>
        <p:nvSpPr>
          <p:cNvPr id="4" name="Slide Number Placeholder 3"/>
          <p:cNvSpPr>
            <a:spLocks noGrp="1"/>
          </p:cNvSpPr>
          <p:nvPr>
            <p:ph type="sldNum" sz="quarter" idx="5"/>
          </p:nvPr>
        </p:nvSpPr>
        <p:spPr/>
        <p:txBody>
          <a:bodyPr/>
          <a:lstStyle/>
          <a:p>
            <a:fld id="{98ABC38C-A85F-C840-83D1-773BAD8D81E7}" type="slidenum">
              <a:rPr lang="en-US" smtClean="0"/>
              <a:t>7</a:t>
            </a:fld>
            <a:endParaRPr lang="en-US"/>
          </a:p>
        </p:txBody>
      </p:sp>
    </p:spTree>
    <p:extLst>
      <p:ext uri="{BB962C8B-B14F-4D97-AF65-F5344CB8AC3E}">
        <p14:creationId xmlns:p14="http://schemas.microsoft.com/office/powerpoint/2010/main" val="938106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2FC93-D463-0991-B331-625F9E45E3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EF142D-672A-45C6-05AC-00D89E33F6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77DFA57-7ABA-1FDF-2F7F-40994A8A253E}"/>
              </a:ext>
            </a:extLst>
          </p:cNvPr>
          <p:cNvSpPr>
            <a:spLocks noGrp="1"/>
          </p:cNvSpPr>
          <p:nvPr>
            <p:ph type="dt" sz="half" idx="10"/>
          </p:nvPr>
        </p:nvSpPr>
        <p:spPr/>
        <p:txBody>
          <a:bodyPr/>
          <a:lstStyle/>
          <a:p>
            <a:fld id="{AD10DBB9-B7A6-5C45-820E-D817D0630EB1}" type="datetimeFigureOut">
              <a:rPr lang="en-US" smtClean="0"/>
              <a:t>4/27/23</a:t>
            </a:fld>
            <a:endParaRPr lang="en-US"/>
          </a:p>
        </p:txBody>
      </p:sp>
      <p:sp>
        <p:nvSpPr>
          <p:cNvPr id="5" name="Footer Placeholder 4">
            <a:extLst>
              <a:ext uri="{FF2B5EF4-FFF2-40B4-BE49-F238E27FC236}">
                <a16:creationId xmlns:a16="http://schemas.microsoft.com/office/drawing/2014/main" id="{DD56A813-167C-9D63-F5A6-CC76E5BE60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BD2621-B5C3-EBC2-54A4-8E068BAEB1FF}"/>
              </a:ext>
            </a:extLst>
          </p:cNvPr>
          <p:cNvSpPr>
            <a:spLocks noGrp="1"/>
          </p:cNvSpPr>
          <p:nvPr>
            <p:ph type="sldNum" sz="quarter" idx="12"/>
          </p:nvPr>
        </p:nvSpPr>
        <p:spPr/>
        <p:txBody>
          <a:bodyPr/>
          <a:lstStyle/>
          <a:p>
            <a:fld id="{BB596C13-AF18-D84A-A2E2-BDF1AE32F5A9}" type="slidenum">
              <a:rPr lang="en-US" smtClean="0"/>
              <a:t>‹#›</a:t>
            </a:fld>
            <a:endParaRPr lang="en-US"/>
          </a:p>
        </p:txBody>
      </p:sp>
    </p:spTree>
    <p:extLst>
      <p:ext uri="{BB962C8B-B14F-4D97-AF65-F5344CB8AC3E}">
        <p14:creationId xmlns:p14="http://schemas.microsoft.com/office/powerpoint/2010/main" val="1345910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B9BA1-542C-E439-C5B2-813FE74D82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1CB0E2-58F3-4C40-9C58-B29687975D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36C1F2-2A13-2B4F-BEF4-715472096D82}"/>
              </a:ext>
            </a:extLst>
          </p:cNvPr>
          <p:cNvSpPr>
            <a:spLocks noGrp="1"/>
          </p:cNvSpPr>
          <p:nvPr>
            <p:ph type="dt" sz="half" idx="10"/>
          </p:nvPr>
        </p:nvSpPr>
        <p:spPr/>
        <p:txBody>
          <a:bodyPr/>
          <a:lstStyle/>
          <a:p>
            <a:fld id="{AD10DBB9-B7A6-5C45-820E-D817D0630EB1}" type="datetimeFigureOut">
              <a:rPr lang="en-US" smtClean="0"/>
              <a:t>4/27/23</a:t>
            </a:fld>
            <a:endParaRPr lang="en-US"/>
          </a:p>
        </p:txBody>
      </p:sp>
      <p:sp>
        <p:nvSpPr>
          <p:cNvPr id="5" name="Footer Placeholder 4">
            <a:extLst>
              <a:ext uri="{FF2B5EF4-FFF2-40B4-BE49-F238E27FC236}">
                <a16:creationId xmlns:a16="http://schemas.microsoft.com/office/drawing/2014/main" id="{0EB3AD37-878F-1A2E-4CF0-47EDC775F4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1B2F1F-7381-80B0-7760-F91F0757B0EA}"/>
              </a:ext>
            </a:extLst>
          </p:cNvPr>
          <p:cNvSpPr>
            <a:spLocks noGrp="1"/>
          </p:cNvSpPr>
          <p:nvPr>
            <p:ph type="sldNum" sz="quarter" idx="12"/>
          </p:nvPr>
        </p:nvSpPr>
        <p:spPr/>
        <p:txBody>
          <a:bodyPr/>
          <a:lstStyle/>
          <a:p>
            <a:fld id="{BB596C13-AF18-D84A-A2E2-BDF1AE32F5A9}" type="slidenum">
              <a:rPr lang="en-US" smtClean="0"/>
              <a:t>‹#›</a:t>
            </a:fld>
            <a:endParaRPr lang="en-US"/>
          </a:p>
        </p:txBody>
      </p:sp>
    </p:spTree>
    <p:extLst>
      <p:ext uri="{BB962C8B-B14F-4D97-AF65-F5344CB8AC3E}">
        <p14:creationId xmlns:p14="http://schemas.microsoft.com/office/powerpoint/2010/main" val="3408580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9254E-2EEC-154A-66CD-678A524994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C5FFA2-9874-0B93-9340-21E5027AD8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153DD2-B7ED-9B1C-A6D3-3F3C95732622}"/>
              </a:ext>
            </a:extLst>
          </p:cNvPr>
          <p:cNvSpPr>
            <a:spLocks noGrp="1"/>
          </p:cNvSpPr>
          <p:nvPr>
            <p:ph type="dt" sz="half" idx="10"/>
          </p:nvPr>
        </p:nvSpPr>
        <p:spPr/>
        <p:txBody>
          <a:bodyPr/>
          <a:lstStyle/>
          <a:p>
            <a:fld id="{AD10DBB9-B7A6-5C45-820E-D817D0630EB1}" type="datetimeFigureOut">
              <a:rPr lang="en-US" smtClean="0"/>
              <a:t>4/27/23</a:t>
            </a:fld>
            <a:endParaRPr lang="en-US"/>
          </a:p>
        </p:txBody>
      </p:sp>
      <p:sp>
        <p:nvSpPr>
          <p:cNvPr id="5" name="Footer Placeholder 4">
            <a:extLst>
              <a:ext uri="{FF2B5EF4-FFF2-40B4-BE49-F238E27FC236}">
                <a16:creationId xmlns:a16="http://schemas.microsoft.com/office/drawing/2014/main" id="{A84B3D59-9CFF-A225-F15B-63F2DC2782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6DAF63-1C0D-CD60-8D6E-13BDCC972285}"/>
              </a:ext>
            </a:extLst>
          </p:cNvPr>
          <p:cNvSpPr>
            <a:spLocks noGrp="1"/>
          </p:cNvSpPr>
          <p:nvPr>
            <p:ph type="sldNum" sz="quarter" idx="12"/>
          </p:nvPr>
        </p:nvSpPr>
        <p:spPr/>
        <p:txBody>
          <a:bodyPr/>
          <a:lstStyle/>
          <a:p>
            <a:fld id="{BB596C13-AF18-D84A-A2E2-BDF1AE32F5A9}" type="slidenum">
              <a:rPr lang="en-US" smtClean="0"/>
              <a:t>‹#›</a:t>
            </a:fld>
            <a:endParaRPr lang="en-US"/>
          </a:p>
        </p:txBody>
      </p:sp>
    </p:spTree>
    <p:extLst>
      <p:ext uri="{BB962C8B-B14F-4D97-AF65-F5344CB8AC3E}">
        <p14:creationId xmlns:p14="http://schemas.microsoft.com/office/powerpoint/2010/main" val="807606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C9CB6-4691-7529-E432-C1FD477C21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3F52A7-EE26-81AB-2BD2-8CA747F23D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A02E3C-7171-326E-BF60-585D241B3F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89F618-444B-5723-4862-9A8177535CC0}"/>
              </a:ext>
            </a:extLst>
          </p:cNvPr>
          <p:cNvSpPr>
            <a:spLocks noGrp="1"/>
          </p:cNvSpPr>
          <p:nvPr>
            <p:ph type="dt" sz="half" idx="10"/>
          </p:nvPr>
        </p:nvSpPr>
        <p:spPr/>
        <p:txBody>
          <a:bodyPr/>
          <a:lstStyle/>
          <a:p>
            <a:fld id="{AD10DBB9-B7A6-5C45-820E-D817D0630EB1}" type="datetimeFigureOut">
              <a:rPr lang="en-US" smtClean="0"/>
              <a:t>4/27/23</a:t>
            </a:fld>
            <a:endParaRPr lang="en-US"/>
          </a:p>
        </p:txBody>
      </p:sp>
      <p:sp>
        <p:nvSpPr>
          <p:cNvPr id="6" name="Footer Placeholder 5">
            <a:extLst>
              <a:ext uri="{FF2B5EF4-FFF2-40B4-BE49-F238E27FC236}">
                <a16:creationId xmlns:a16="http://schemas.microsoft.com/office/drawing/2014/main" id="{789404B7-126D-6BAA-08BD-FA6EB6D55B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76F9C2-19BB-AE72-1069-52C1A9215092}"/>
              </a:ext>
            </a:extLst>
          </p:cNvPr>
          <p:cNvSpPr>
            <a:spLocks noGrp="1"/>
          </p:cNvSpPr>
          <p:nvPr>
            <p:ph type="sldNum" sz="quarter" idx="12"/>
          </p:nvPr>
        </p:nvSpPr>
        <p:spPr/>
        <p:txBody>
          <a:bodyPr/>
          <a:lstStyle/>
          <a:p>
            <a:fld id="{BB596C13-AF18-D84A-A2E2-BDF1AE32F5A9}" type="slidenum">
              <a:rPr lang="en-US" smtClean="0"/>
              <a:t>‹#›</a:t>
            </a:fld>
            <a:endParaRPr lang="en-US"/>
          </a:p>
        </p:txBody>
      </p:sp>
    </p:spTree>
    <p:extLst>
      <p:ext uri="{BB962C8B-B14F-4D97-AF65-F5344CB8AC3E}">
        <p14:creationId xmlns:p14="http://schemas.microsoft.com/office/powerpoint/2010/main" val="2345216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C5D28-E784-2DEF-ADEC-43C4FCD889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79BC85-4812-45A5-CACD-0CB8554919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EC0BF9-3046-DA4F-7235-9D70B611AA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30E81D-EB09-FB62-0FD5-4A92DA697C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C4FBC0-9691-1C5A-E1CB-248225B3C3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9A7563-F1F0-DA1D-45A6-8BD90DCCF225}"/>
              </a:ext>
            </a:extLst>
          </p:cNvPr>
          <p:cNvSpPr>
            <a:spLocks noGrp="1"/>
          </p:cNvSpPr>
          <p:nvPr>
            <p:ph type="dt" sz="half" idx="10"/>
          </p:nvPr>
        </p:nvSpPr>
        <p:spPr/>
        <p:txBody>
          <a:bodyPr/>
          <a:lstStyle/>
          <a:p>
            <a:fld id="{AD10DBB9-B7A6-5C45-820E-D817D0630EB1}" type="datetimeFigureOut">
              <a:rPr lang="en-US" smtClean="0"/>
              <a:t>4/27/23</a:t>
            </a:fld>
            <a:endParaRPr lang="en-US"/>
          </a:p>
        </p:txBody>
      </p:sp>
      <p:sp>
        <p:nvSpPr>
          <p:cNvPr id="8" name="Footer Placeholder 7">
            <a:extLst>
              <a:ext uri="{FF2B5EF4-FFF2-40B4-BE49-F238E27FC236}">
                <a16:creationId xmlns:a16="http://schemas.microsoft.com/office/drawing/2014/main" id="{C6D7704E-CF11-F3F7-75E3-502DA0A90A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4CFF1A-8E70-8FE0-0847-34ADC57E99AE}"/>
              </a:ext>
            </a:extLst>
          </p:cNvPr>
          <p:cNvSpPr>
            <a:spLocks noGrp="1"/>
          </p:cNvSpPr>
          <p:nvPr>
            <p:ph type="sldNum" sz="quarter" idx="12"/>
          </p:nvPr>
        </p:nvSpPr>
        <p:spPr/>
        <p:txBody>
          <a:bodyPr/>
          <a:lstStyle/>
          <a:p>
            <a:fld id="{BB596C13-AF18-D84A-A2E2-BDF1AE32F5A9}" type="slidenum">
              <a:rPr lang="en-US" smtClean="0"/>
              <a:t>‹#›</a:t>
            </a:fld>
            <a:endParaRPr lang="en-US"/>
          </a:p>
        </p:txBody>
      </p:sp>
    </p:spTree>
    <p:extLst>
      <p:ext uri="{BB962C8B-B14F-4D97-AF65-F5344CB8AC3E}">
        <p14:creationId xmlns:p14="http://schemas.microsoft.com/office/powerpoint/2010/main" val="3515782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21614-37D2-376A-6080-E1B0B6DFE8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3FDBAA-87A8-12AD-8C34-A9CAB008298F}"/>
              </a:ext>
            </a:extLst>
          </p:cNvPr>
          <p:cNvSpPr>
            <a:spLocks noGrp="1"/>
          </p:cNvSpPr>
          <p:nvPr>
            <p:ph type="dt" sz="half" idx="10"/>
          </p:nvPr>
        </p:nvSpPr>
        <p:spPr/>
        <p:txBody>
          <a:bodyPr/>
          <a:lstStyle/>
          <a:p>
            <a:fld id="{AD10DBB9-B7A6-5C45-820E-D817D0630EB1}" type="datetimeFigureOut">
              <a:rPr lang="en-US" smtClean="0"/>
              <a:t>4/27/23</a:t>
            </a:fld>
            <a:endParaRPr lang="en-US"/>
          </a:p>
        </p:txBody>
      </p:sp>
      <p:sp>
        <p:nvSpPr>
          <p:cNvPr id="4" name="Footer Placeholder 3">
            <a:extLst>
              <a:ext uri="{FF2B5EF4-FFF2-40B4-BE49-F238E27FC236}">
                <a16:creationId xmlns:a16="http://schemas.microsoft.com/office/drawing/2014/main" id="{AE8BA30B-4F3C-DA90-BBFF-F7B558AA2B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3606B6-AFA6-0DDF-55FE-0C52D9C365DB}"/>
              </a:ext>
            </a:extLst>
          </p:cNvPr>
          <p:cNvSpPr>
            <a:spLocks noGrp="1"/>
          </p:cNvSpPr>
          <p:nvPr>
            <p:ph type="sldNum" sz="quarter" idx="12"/>
          </p:nvPr>
        </p:nvSpPr>
        <p:spPr/>
        <p:txBody>
          <a:bodyPr/>
          <a:lstStyle/>
          <a:p>
            <a:fld id="{BB596C13-AF18-D84A-A2E2-BDF1AE32F5A9}" type="slidenum">
              <a:rPr lang="en-US" smtClean="0"/>
              <a:t>‹#›</a:t>
            </a:fld>
            <a:endParaRPr lang="en-US"/>
          </a:p>
        </p:txBody>
      </p:sp>
    </p:spTree>
    <p:extLst>
      <p:ext uri="{BB962C8B-B14F-4D97-AF65-F5344CB8AC3E}">
        <p14:creationId xmlns:p14="http://schemas.microsoft.com/office/powerpoint/2010/main" val="2821290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896699-7C74-FA4B-3FC0-9039A987D675}"/>
              </a:ext>
            </a:extLst>
          </p:cNvPr>
          <p:cNvSpPr>
            <a:spLocks noGrp="1"/>
          </p:cNvSpPr>
          <p:nvPr>
            <p:ph type="dt" sz="half" idx="10"/>
          </p:nvPr>
        </p:nvSpPr>
        <p:spPr/>
        <p:txBody>
          <a:bodyPr/>
          <a:lstStyle/>
          <a:p>
            <a:fld id="{AD10DBB9-B7A6-5C45-820E-D817D0630EB1}" type="datetimeFigureOut">
              <a:rPr lang="en-US" smtClean="0"/>
              <a:t>4/27/23</a:t>
            </a:fld>
            <a:endParaRPr lang="en-US"/>
          </a:p>
        </p:txBody>
      </p:sp>
      <p:sp>
        <p:nvSpPr>
          <p:cNvPr id="3" name="Footer Placeholder 2">
            <a:extLst>
              <a:ext uri="{FF2B5EF4-FFF2-40B4-BE49-F238E27FC236}">
                <a16:creationId xmlns:a16="http://schemas.microsoft.com/office/drawing/2014/main" id="{024B0D62-C703-06CC-45CA-5EE2933EB3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5AD7A0-7658-DE1B-9B2E-B9C1E49055D6}"/>
              </a:ext>
            </a:extLst>
          </p:cNvPr>
          <p:cNvSpPr>
            <a:spLocks noGrp="1"/>
          </p:cNvSpPr>
          <p:nvPr>
            <p:ph type="sldNum" sz="quarter" idx="12"/>
          </p:nvPr>
        </p:nvSpPr>
        <p:spPr/>
        <p:txBody>
          <a:bodyPr/>
          <a:lstStyle/>
          <a:p>
            <a:fld id="{BB596C13-AF18-D84A-A2E2-BDF1AE32F5A9}" type="slidenum">
              <a:rPr lang="en-US" smtClean="0"/>
              <a:t>‹#›</a:t>
            </a:fld>
            <a:endParaRPr lang="en-US"/>
          </a:p>
        </p:txBody>
      </p:sp>
    </p:spTree>
    <p:extLst>
      <p:ext uri="{BB962C8B-B14F-4D97-AF65-F5344CB8AC3E}">
        <p14:creationId xmlns:p14="http://schemas.microsoft.com/office/powerpoint/2010/main" val="1628258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D27AA-A2BF-4179-D789-81A62D3576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CCEAA0-0A8E-92D7-F60A-08AE354415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A43B0A-ABFB-9501-5974-59CC1EB69B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E46654-90E0-9243-D51C-D6D6A4805812}"/>
              </a:ext>
            </a:extLst>
          </p:cNvPr>
          <p:cNvSpPr>
            <a:spLocks noGrp="1"/>
          </p:cNvSpPr>
          <p:nvPr>
            <p:ph type="dt" sz="half" idx="10"/>
          </p:nvPr>
        </p:nvSpPr>
        <p:spPr/>
        <p:txBody>
          <a:bodyPr/>
          <a:lstStyle/>
          <a:p>
            <a:fld id="{AD10DBB9-B7A6-5C45-820E-D817D0630EB1}" type="datetimeFigureOut">
              <a:rPr lang="en-US" smtClean="0"/>
              <a:t>4/27/23</a:t>
            </a:fld>
            <a:endParaRPr lang="en-US"/>
          </a:p>
        </p:txBody>
      </p:sp>
      <p:sp>
        <p:nvSpPr>
          <p:cNvPr id="6" name="Footer Placeholder 5">
            <a:extLst>
              <a:ext uri="{FF2B5EF4-FFF2-40B4-BE49-F238E27FC236}">
                <a16:creationId xmlns:a16="http://schemas.microsoft.com/office/drawing/2014/main" id="{1EBDF262-33FE-F763-2E31-745EF82397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493188-FF7D-81F0-FA71-6AFECA4D3A6D}"/>
              </a:ext>
            </a:extLst>
          </p:cNvPr>
          <p:cNvSpPr>
            <a:spLocks noGrp="1"/>
          </p:cNvSpPr>
          <p:nvPr>
            <p:ph type="sldNum" sz="quarter" idx="12"/>
          </p:nvPr>
        </p:nvSpPr>
        <p:spPr/>
        <p:txBody>
          <a:bodyPr/>
          <a:lstStyle/>
          <a:p>
            <a:fld id="{BB596C13-AF18-D84A-A2E2-BDF1AE32F5A9}" type="slidenum">
              <a:rPr lang="en-US" smtClean="0"/>
              <a:t>‹#›</a:t>
            </a:fld>
            <a:endParaRPr lang="en-US"/>
          </a:p>
        </p:txBody>
      </p:sp>
    </p:spTree>
    <p:extLst>
      <p:ext uri="{BB962C8B-B14F-4D97-AF65-F5344CB8AC3E}">
        <p14:creationId xmlns:p14="http://schemas.microsoft.com/office/powerpoint/2010/main" val="816695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23229-7033-A37D-798A-8C1572262E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A98EEB-95A3-ADBD-1CA1-E5E5C6247E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30C279-7DB5-A969-D718-0C95F6951A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5E8583-471C-BBBC-1BA9-49DC58DE8E33}"/>
              </a:ext>
            </a:extLst>
          </p:cNvPr>
          <p:cNvSpPr>
            <a:spLocks noGrp="1"/>
          </p:cNvSpPr>
          <p:nvPr>
            <p:ph type="dt" sz="half" idx="10"/>
          </p:nvPr>
        </p:nvSpPr>
        <p:spPr/>
        <p:txBody>
          <a:bodyPr/>
          <a:lstStyle/>
          <a:p>
            <a:fld id="{AD10DBB9-B7A6-5C45-820E-D817D0630EB1}" type="datetimeFigureOut">
              <a:rPr lang="en-US" smtClean="0"/>
              <a:t>4/27/23</a:t>
            </a:fld>
            <a:endParaRPr lang="en-US"/>
          </a:p>
        </p:txBody>
      </p:sp>
      <p:sp>
        <p:nvSpPr>
          <p:cNvPr id="6" name="Footer Placeholder 5">
            <a:extLst>
              <a:ext uri="{FF2B5EF4-FFF2-40B4-BE49-F238E27FC236}">
                <a16:creationId xmlns:a16="http://schemas.microsoft.com/office/drawing/2014/main" id="{EA724688-37ED-1767-1C4B-32D20B13FD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A853C9-C125-751F-C695-8C102BCF293F}"/>
              </a:ext>
            </a:extLst>
          </p:cNvPr>
          <p:cNvSpPr>
            <a:spLocks noGrp="1"/>
          </p:cNvSpPr>
          <p:nvPr>
            <p:ph type="sldNum" sz="quarter" idx="12"/>
          </p:nvPr>
        </p:nvSpPr>
        <p:spPr/>
        <p:txBody>
          <a:bodyPr/>
          <a:lstStyle/>
          <a:p>
            <a:fld id="{BB596C13-AF18-D84A-A2E2-BDF1AE32F5A9}" type="slidenum">
              <a:rPr lang="en-US" smtClean="0"/>
              <a:t>‹#›</a:t>
            </a:fld>
            <a:endParaRPr lang="en-US"/>
          </a:p>
        </p:txBody>
      </p:sp>
    </p:spTree>
    <p:extLst>
      <p:ext uri="{BB962C8B-B14F-4D97-AF65-F5344CB8AC3E}">
        <p14:creationId xmlns:p14="http://schemas.microsoft.com/office/powerpoint/2010/main" val="14600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24F31-C765-1370-0048-1FC3F3339C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14489C-0F8F-F963-8489-1415D78E8C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AF3002-F87D-83C0-F626-1E62D8A4095B}"/>
              </a:ext>
            </a:extLst>
          </p:cNvPr>
          <p:cNvSpPr>
            <a:spLocks noGrp="1"/>
          </p:cNvSpPr>
          <p:nvPr>
            <p:ph type="dt" sz="half" idx="10"/>
          </p:nvPr>
        </p:nvSpPr>
        <p:spPr/>
        <p:txBody>
          <a:bodyPr/>
          <a:lstStyle/>
          <a:p>
            <a:fld id="{AD10DBB9-B7A6-5C45-820E-D817D0630EB1}" type="datetimeFigureOut">
              <a:rPr lang="en-US" smtClean="0"/>
              <a:t>4/27/23</a:t>
            </a:fld>
            <a:endParaRPr lang="en-US"/>
          </a:p>
        </p:txBody>
      </p:sp>
      <p:sp>
        <p:nvSpPr>
          <p:cNvPr id="5" name="Footer Placeholder 4">
            <a:extLst>
              <a:ext uri="{FF2B5EF4-FFF2-40B4-BE49-F238E27FC236}">
                <a16:creationId xmlns:a16="http://schemas.microsoft.com/office/drawing/2014/main" id="{C61CBB2C-E73A-CC9F-A461-6E1C86C613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E32A67-05FC-5AF7-AA4F-1108FBA9C682}"/>
              </a:ext>
            </a:extLst>
          </p:cNvPr>
          <p:cNvSpPr>
            <a:spLocks noGrp="1"/>
          </p:cNvSpPr>
          <p:nvPr>
            <p:ph type="sldNum" sz="quarter" idx="12"/>
          </p:nvPr>
        </p:nvSpPr>
        <p:spPr/>
        <p:txBody>
          <a:bodyPr/>
          <a:lstStyle/>
          <a:p>
            <a:fld id="{BB596C13-AF18-D84A-A2E2-BDF1AE32F5A9}" type="slidenum">
              <a:rPr lang="en-US" smtClean="0"/>
              <a:t>‹#›</a:t>
            </a:fld>
            <a:endParaRPr lang="en-US"/>
          </a:p>
        </p:txBody>
      </p:sp>
    </p:spTree>
    <p:extLst>
      <p:ext uri="{BB962C8B-B14F-4D97-AF65-F5344CB8AC3E}">
        <p14:creationId xmlns:p14="http://schemas.microsoft.com/office/powerpoint/2010/main" val="4187820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377E3E-6D8B-7270-D9F0-D6E5991632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8979B8-F06F-0148-5102-B98C7B7F5F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418035-6B2B-C3A8-F664-57A1D56D73E0}"/>
              </a:ext>
            </a:extLst>
          </p:cNvPr>
          <p:cNvSpPr>
            <a:spLocks noGrp="1"/>
          </p:cNvSpPr>
          <p:nvPr>
            <p:ph type="dt" sz="half" idx="10"/>
          </p:nvPr>
        </p:nvSpPr>
        <p:spPr/>
        <p:txBody>
          <a:bodyPr/>
          <a:lstStyle/>
          <a:p>
            <a:fld id="{AD10DBB9-B7A6-5C45-820E-D817D0630EB1}" type="datetimeFigureOut">
              <a:rPr lang="en-US" smtClean="0"/>
              <a:t>4/27/23</a:t>
            </a:fld>
            <a:endParaRPr lang="en-US"/>
          </a:p>
        </p:txBody>
      </p:sp>
      <p:sp>
        <p:nvSpPr>
          <p:cNvPr id="5" name="Footer Placeholder 4">
            <a:extLst>
              <a:ext uri="{FF2B5EF4-FFF2-40B4-BE49-F238E27FC236}">
                <a16:creationId xmlns:a16="http://schemas.microsoft.com/office/drawing/2014/main" id="{C9658E63-6EBC-F6F5-891A-8B9B051566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447F22-F6EF-C4FE-6C02-B318660B2075}"/>
              </a:ext>
            </a:extLst>
          </p:cNvPr>
          <p:cNvSpPr>
            <a:spLocks noGrp="1"/>
          </p:cNvSpPr>
          <p:nvPr>
            <p:ph type="sldNum" sz="quarter" idx="12"/>
          </p:nvPr>
        </p:nvSpPr>
        <p:spPr/>
        <p:txBody>
          <a:bodyPr/>
          <a:lstStyle/>
          <a:p>
            <a:fld id="{BB596C13-AF18-D84A-A2E2-BDF1AE32F5A9}" type="slidenum">
              <a:rPr lang="en-US" smtClean="0"/>
              <a:t>‹#›</a:t>
            </a:fld>
            <a:endParaRPr lang="en-US"/>
          </a:p>
        </p:txBody>
      </p:sp>
    </p:spTree>
    <p:extLst>
      <p:ext uri="{BB962C8B-B14F-4D97-AF65-F5344CB8AC3E}">
        <p14:creationId xmlns:p14="http://schemas.microsoft.com/office/powerpoint/2010/main" val="3043998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6EABBA-404C-8976-89BC-782F855595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A2DDDA-AEE0-CA24-6728-5C67C20231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80464C-684D-C643-A0E4-768373DC8B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10DBB9-B7A6-5C45-820E-D817D0630EB1}" type="datetimeFigureOut">
              <a:rPr lang="en-US" smtClean="0"/>
              <a:t>4/27/23</a:t>
            </a:fld>
            <a:endParaRPr lang="en-US"/>
          </a:p>
        </p:txBody>
      </p:sp>
      <p:sp>
        <p:nvSpPr>
          <p:cNvPr id="5" name="Footer Placeholder 4">
            <a:extLst>
              <a:ext uri="{FF2B5EF4-FFF2-40B4-BE49-F238E27FC236}">
                <a16:creationId xmlns:a16="http://schemas.microsoft.com/office/drawing/2014/main" id="{300FB4A1-4422-58F6-206C-3962E45F4C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4C47A95-8230-6EAF-CB92-4F3CB86CB6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596C13-AF18-D84A-A2E2-BDF1AE32F5A9}" type="slidenum">
              <a:rPr lang="en-US" smtClean="0"/>
              <a:t>‹#›</a:t>
            </a:fld>
            <a:endParaRPr lang="en-US"/>
          </a:p>
        </p:txBody>
      </p:sp>
    </p:spTree>
    <p:extLst>
      <p:ext uri="{BB962C8B-B14F-4D97-AF65-F5344CB8AC3E}">
        <p14:creationId xmlns:p14="http://schemas.microsoft.com/office/powerpoint/2010/main" val="2613757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0C5AA-B606-3F1E-3B92-3D6C791AE09E}"/>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C8402537-2E25-5450-146E-6A6503B2C10B}"/>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The higher the ploidy of a </a:t>
            </a:r>
            <a:r>
              <a:rPr lang="en-US" u="sng" dirty="0">
                <a:latin typeface="Times New Roman" panose="02020603050405020304" pitchFamily="18" charset="0"/>
                <a:cs typeface="Times New Roman" panose="02020603050405020304" pitchFamily="18" charset="0"/>
              </a:rPr>
              <a:t>proliferating</a:t>
            </a:r>
            <a:r>
              <a:rPr lang="en-US" dirty="0">
                <a:latin typeface="Times New Roman" panose="02020603050405020304" pitchFamily="18" charset="0"/>
                <a:cs typeface="Times New Roman" panose="02020603050405020304" pitchFamily="18" charset="0"/>
              </a:rPr>
              <a:t> cell, the faster it can exit the cell cycle and </a:t>
            </a:r>
            <a:r>
              <a:rPr lang="en-US" b="0" i="0" dirty="0">
                <a:effectLst/>
                <a:latin typeface="Times New Roman" panose="02020603050405020304" pitchFamily="18" charset="0"/>
                <a:cs typeface="Times New Roman" panose="02020603050405020304" pitchFamily="18" charset="0"/>
              </a:rPr>
              <a:t>enter the endoreplication? cycle </a:t>
            </a:r>
            <a:r>
              <a:rPr lang="en-US" sz="2400" b="0" i="0" dirty="0">
                <a:effectLst/>
                <a:latin typeface="Times New Roman" panose="02020603050405020304" pitchFamily="18" charset="0"/>
                <a:cs typeface="Times New Roman" panose="02020603050405020304" pitchFamily="18" charset="0"/>
              </a:rPr>
              <a:t>(which confers resistance to several stressors, including Gemcitabine).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2667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2D7AC-E5B3-9375-0652-F1142B8E33E3}"/>
              </a:ext>
            </a:extLst>
          </p:cNvPr>
          <p:cNvSpPr>
            <a:spLocks noGrp="1"/>
          </p:cNvSpPr>
          <p:nvPr>
            <p:ph type="title"/>
          </p:nvPr>
        </p:nvSpPr>
        <p:spPr/>
        <p:txBody>
          <a:bodyPr/>
          <a:lstStyle/>
          <a:p>
            <a:r>
              <a:rPr lang="en-US" dirty="0"/>
              <a:t>Slide about how polyploid normal cells are terminally differentiated</a:t>
            </a:r>
          </a:p>
        </p:txBody>
      </p:sp>
      <p:sp>
        <p:nvSpPr>
          <p:cNvPr id="3" name="Content Placeholder 2">
            <a:extLst>
              <a:ext uri="{FF2B5EF4-FFF2-40B4-BE49-F238E27FC236}">
                <a16:creationId xmlns:a16="http://schemas.microsoft.com/office/drawing/2014/main" id="{8F0267C9-DAC9-D59C-CCCF-DC74CC045AC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60533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2D7AC-E5B3-9375-0652-F1142B8E33E3}"/>
              </a:ext>
            </a:extLst>
          </p:cNvPr>
          <p:cNvSpPr>
            <a:spLocks noGrp="1"/>
          </p:cNvSpPr>
          <p:nvPr>
            <p:ph type="title"/>
          </p:nvPr>
        </p:nvSpPr>
        <p:spPr/>
        <p:txBody>
          <a:bodyPr>
            <a:normAutofit/>
          </a:bodyPr>
          <a:lstStyle/>
          <a:p>
            <a:r>
              <a:rPr lang="en-US" dirty="0"/>
              <a:t>Slide about how Andriy &amp; Daria obtained 4N SUM-159 cells from 2N cells</a:t>
            </a:r>
          </a:p>
        </p:txBody>
      </p:sp>
      <p:sp>
        <p:nvSpPr>
          <p:cNvPr id="3" name="Content Placeholder 2">
            <a:extLst>
              <a:ext uri="{FF2B5EF4-FFF2-40B4-BE49-F238E27FC236}">
                <a16:creationId xmlns:a16="http://schemas.microsoft.com/office/drawing/2014/main" id="{8F0267C9-DAC9-D59C-CCCF-DC74CC045ACC}"/>
              </a:ext>
            </a:extLst>
          </p:cNvPr>
          <p:cNvSpPr>
            <a:spLocks noGrp="1"/>
          </p:cNvSpPr>
          <p:nvPr>
            <p:ph idx="1"/>
          </p:nvPr>
        </p:nvSpPr>
        <p:spPr/>
        <p:txBody>
          <a:bodyPr/>
          <a:lstStyle/>
          <a:p>
            <a:r>
              <a:rPr lang="en-US" dirty="0"/>
              <a:t>In Contrast to normal polyploid cells, these cells do divide!</a:t>
            </a:r>
          </a:p>
        </p:txBody>
      </p:sp>
    </p:spTree>
    <p:extLst>
      <p:ext uri="{BB962C8B-B14F-4D97-AF65-F5344CB8AC3E}">
        <p14:creationId xmlns:p14="http://schemas.microsoft.com/office/powerpoint/2010/main" val="3142308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5A034-18A4-EF41-37FD-416603143190}"/>
              </a:ext>
            </a:extLst>
          </p:cNvPr>
          <p:cNvSpPr>
            <a:spLocks noGrp="1"/>
          </p:cNvSpPr>
          <p:nvPr>
            <p:ph type="title"/>
          </p:nvPr>
        </p:nvSpPr>
        <p:spPr/>
        <p:txBody>
          <a:bodyPr>
            <a:normAutofit/>
          </a:bodyPr>
          <a:lstStyle/>
          <a:p>
            <a:r>
              <a:rPr lang="en-US" dirty="0"/>
              <a:t>Modeling concentration of cells </a:t>
            </a:r>
            <a:r>
              <a:rPr lang="en-US" i="1" dirty="0"/>
              <a:t>P</a:t>
            </a:r>
            <a:r>
              <a:rPr lang="en-US" i="1" baseline="-25000" dirty="0"/>
              <a:t>i </a:t>
            </a:r>
            <a:r>
              <a:rPr lang="en-US" dirty="0"/>
              <a:t> that have skipped </a:t>
            </a:r>
            <a:r>
              <a:rPr lang="en-US" i="1" dirty="0" err="1"/>
              <a:t>i</a:t>
            </a:r>
            <a:r>
              <a:rPr lang="en-US" dirty="0"/>
              <a:t> rounds of mitosis</a:t>
            </a:r>
          </a:p>
        </p:txBody>
      </p:sp>
      <p:pic>
        <p:nvPicPr>
          <p:cNvPr id="5" name="Picture 4">
            <a:extLst>
              <a:ext uri="{FF2B5EF4-FFF2-40B4-BE49-F238E27FC236}">
                <a16:creationId xmlns:a16="http://schemas.microsoft.com/office/drawing/2014/main" id="{EFF59C31-354C-CA27-6922-03A3F98804FC}"/>
              </a:ext>
            </a:extLst>
          </p:cNvPr>
          <p:cNvPicPr>
            <a:picLocks noChangeAspect="1"/>
          </p:cNvPicPr>
          <p:nvPr/>
        </p:nvPicPr>
        <p:blipFill>
          <a:blip r:embed="rId3"/>
          <a:stretch>
            <a:fillRect/>
          </a:stretch>
        </p:blipFill>
        <p:spPr>
          <a:xfrm>
            <a:off x="2014576" y="2011538"/>
            <a:ext cx="8388623" cy="893233"/>
          </a:xfrm>
          <a:prstGeom prst="rect">
            <a:avLst/>
          </a:prstGeom>
        </p:spPr>
      </p:pic>
      <p:sp>
        <p:nvSpPr>
          <p:cNvPr id="7" name="TextBox 6">
            <a:extLst>
              <a:ext uri="{FF2B5EF4-FFF2-40B4-BE49-F238E27FC236}">
                <a16:creationId xmlns:a16="http://schemas.microsoft.com/office/drawing/2014/main" id="{1623F0A3-481F-681F-7535-6AF5A2EACCCD}"/>
              </a:ext>
            </a:extLst>
          </p:cNvPr>
          <p:cNvSpPr txBox="1"/>
          <p:nvPr/>
        </p:nvSpPr>
        <p:spPr>
          <a:xfrm>
            <a:off x="3199428" y="2924336"/>
            <a:ext cx="2326342" cy="646331"/>
          </a:xfrm>
          <a:prstGeom prst="rect">
            <a:avLst/>
          </a:prstGeom>
          <a:noFill/>
        </p:spPr>
        <p:txBody>
          <a:bodyPr wrap="none" rtlCol="0">
            <a:spAutoFit/>
          </a:bodyPr>
          <a:lstStyle/>
          <a:p>
            <a:r>
              <a:rPr lang="en-US" i="1" dirty="0">
                <a:solidFill>
                  <a:schemeClr val="accent1">
                    <a:lumMod val="75000"/>
                  </a:schemeClr>
                </a:solidFill>
              </a:rPr>
              <a:t>P</a:t>
            </a:r>
            <a:r>
              <a:rPr lang="en-US" i="1" baseline="-25000" dirty="0">
                <a:solidFill>
                  <a:schemeClr val="accent1">
                    <a:lumMod val="75000"/>
                  </a:schemeClr>
                </a:solidFill>
              </a:rPr>
              <a:t>i-1</a:t>
            </a:r>
            <a:r>
              <a:rPr lang="en-US" i="1" dirty="0">
                <a:solidFill>
                  <a:schemeClr val="accent1">
                    <a:lumMod val="75000"/>
                  </a:schemeClr>
                </a:solidFill>
              </a:rPr>
              <a:t> cells </a:t>
            </a:r>
            <a:r>
              <a:rPr lang="en-US" i="1" dirty="0" err="1">
                <a:solidFill>
                  <a:schemeClr val="accent1">
                    <a:lumMod val="75000"/>
                  </a:schemeClr>
                </a:solidFill>
              </a:rPr>
              <a:t>endoreplicate</a:t>
            </a:r>
            <a:r>
              <a:rPr lang="en-US" i="1" dirty="0">
                <a:solidFill>
                  <a:schemeClr val="accent1">
                    <a:lumMod val="75000"/>
                  </a:schemeClr>
                </a:solidFill>
              </a:rPr>
              <a:t> </a:t>
            </a:r>
          </a:p>
          <a:p>
            <a:r>
              <a:rPr lang="en-US" i="1" dirty="0">
                <a:solidFill>
                  <a:schemeClr val="accent1">
                    <a:lumMod val="75000"/>
                  </a:schemeClr>
                </a:solidFill>
              </a:rPr>
              <a:t>(thus becoming P</a:t>
            </a:r>
            <a:r>
              <a:rPr lang="en-US" i="1" baseline="-25000" dirty="0">
                <a:solidFill>
                  <a:schemeClr val="accent1">
                    <a:lumMod val="75000"/>
                  </a:schemeClr>
                </a:solidFill>
              </a:rPr>
              <a:t>i</a:t>
            </a:r>
            <a:r>
              <a:rPr lang="en-US" i="1" dirty="0">
                <a:solidFill>
                  <a:schemeClr val="accent1">
                    <a:lumMod val="75000"/>
                  </a:schemeClr>
                </a:solidFill>
              </a:rPr>
              <a:t>)</a:t>
            </a:r>
          </a:p>
        </p:txBody>
      </p:sp>
      <p:sp>
        <p:nvSpPr>
          <p:cNvPr id="8" name="TextBox 7">
            <a:extLst>
              <a:ext uri="{FF2B5EF4-FFF2-40B4-BE49-F238E27FC236}">
                <a16:creationId xmlns:a16="http://schemas.microsoft.com/office/drawing/2014/main" id="{D4260223-0188-C641-43B0-651933BBD54D}"/>
              </a:ext>
            </a:extLst>
          </p:cNvPr>
          <p:cNvSpPr txBox="1"/>
          <p:nvPr/>
        </p:nvSpPr>
        <p:spPr>
          <a:xfrm>
            <a:off x="5624461" y="2997201"/>
            <a:ext cx="2194896" cy="369332"/>
          </a:xfrm>
          <a:prstGeom prst="rect">
            <a:avLst/>
          </a:prstGeom>
          <a:noFill/>
        </p:spPr>
        <p:txBody>
          <a:bodyPr wrap="square" rtlCol="0">
            <a:spAutoFit/>
          </a:bodyPr>
          <a:lstStyle/>
          <a:p>
            <a:r>
              <a:rPr lang="en-US" i="1" dirty="0">
                <a:solidFill>
                  <a:schemeClr val="accent1">
                    <a:lumMod val="75000"/>
                  </a:schemeClr>
                </a:solidFill>
              </a:rPr>
              <a:t>P</a:t>
            </a:r>
            <a:r>
              <a:rPr lang="en-US" i="1" baseline="-25000" dirty="0">
                <a:solidFill>
                  <a:schemeClr val="accent1">
                    <a:lumMod val="75000"/>
                  </a:schemeClr>
                </a:solidFill>
              </a:rPr>
              <a:t>i</a:t>
            </a:r>
            <a:r>
              <a:rPr lang="en-US" i="1" dirty="0">
                <a:solidFill>
                  <a:schemeClr val="accent1">
                    <a:lumMod val="75000"/>
                  </a:schemeClr>
                </a:solidFill>
              </a:rPr>
              <a:t> cells </a:t>
            </a:r>
            <a:r>
              <a:rPr lang="en-US" i="1" dirty="0" err="1">
                <a:solidFill>
                  <a:schemeClr val="accent1">
                    <a:lumMod val="75000"/>
                  </a:schemeClr>
                </a:solidFill>
              </a:rPr>
              <a:t>endoreplicate</a:t>
            </a:r>
            <a:endParaRPr lang="en-US" i="1" dirty="0">
              <a:solidFill>
                <a:schemeClr val="accent1">
                  <a:lumMod val="75000"/>
                </a:schemeClr>
              </a:solidFill>
            </a:endParaRPr>
          </a:p>
        </p:txBody>
      </p:sp>
      <p:sp>
        <p:nvSpPr>
          <p:cNvPr id="9" name="TextBox 8">
            <a:extLst>
              <a:ext uri="{FF2B5EF4-FFF2-40B4-BE49-F238E27FC236}">
                <a16:creationId xmlns:a16="http://schemas.microsoft.com/office/drawing/2014/main" id="{A9CC9162-FC2D-3AB2-D082-A37711922A81}"/>
              </a:ext>
            </a:extLst>
          </p:cNvPr>
          <p:cNvSpPr txBox="1"/>
          <p:nvPr/>
        </p:nvSpPr>
        <p:spPr>
          <a:xfrm>
            <a:off x="7424328" y="1759859"/>
            <a:ext cx="1126719" cy="369332"/>
          </a:xfrm>
          <a:prstGeom prst="rect">
            <a:avLst/>
          </a:prstGeom>
          <a:noFill/>
        </p:spPr>
        <p:txBody>
          <a:bodyPr wrap="none" rtlCol="0">
            <a:spAutoFit/>
          </a:bodyPr>
          <a:lstStyle/>
          <a:p>
            <a:r>
              <a:rPr lang="en-US" i="1" dirty="0">
                <a:solidFill>
                  <a:schemeClr val="accent1">
                    <a:lumMod val="75000"/>
                  </a:schemeClr>
                </a:solidFill>
              </a:rPr>
              <a:t>Cell death</a:t>
            </a:r>
          </a:p>
        </p:txBody>
      </p:sp>
      <p:sp>
        <p:nvSpPr>
          <p:cNvPr id="10" name="TextBox 9">
            <a:extLst>
              <a:ext uri="{FF2B5EF4-FFF2-40B4-BE49-F238E27FC236}">
                <a16:creationId xmlns:a16="http://schemas.microsoft.com/office/drawing/2014/main" id="{2121136F-4234-99F4-3720-4349AAA55352}"/>
              </a:ext>
            </a:extLst>
          </p:cNvPr>
          <p:cNvSpPr txBox="1"/>
          <p:nvPr/>
        </p:nvSpPr>
        <p:spPr>
          <a:xfrm>
            <a:off x="8879773" y="1709114"/>
            <a:ext cx="1745671" cy="369332"/>
          </a:xfrm>
          <a:prstGeom prst="rect">
            <a:avLst/>
          </a:prstGeom>
          <a:noFill/>
        </p:spPr>
        <p:txBody>
          <a:bodyPr wrap="none" rtlCol="0">
            <a:spAutoFit/>
          </a:bodyPr>
          <a:lstStyle/>
          <a:p>
            <a:r>
              <a:rPr lang="en-US" i="1" dirty="0">
                <a:solidFill>
                  <a:schemeClr val="accent1">
                    <a:lumMod val="75000"/>
                  </a:schemeClr>
                </a:solidFill>
              </a:rPr>
              <a:t>Cell proliferation</a:t>
            </a:r>
          </a:p>
        </p:txBody>
      </p:sp>
      <p:pic>
        <p:nvPicPr>
          <p:cNvPr id="14" name="Picture 13" descr="Chart, line chart&#10;&#10;Description automatically generated">
            <a:extLst>
              <a:ext uri="{FF2B5EF4-FFF2-40B4-BE49-F238E27FC236}">
                <a16:creationId xmlns:a16="http://schemas.microsoft.com/office/drawing/2014/main" id="{BB3D2E73-7805-FA6D-4E19-BA2AE5340C6A}"/>
              </a:ext>
            </a:extLst>
          </p:cNvPr>
          <p:cNvPicPr>
            <a:picLocks noChangeAspect="1"/>
          </p:cNvPicPr>
          <p:nvPr/>
        </p:nvPicPr>
        <p:blipFill>
          <a:blip r:embed="rId4"/>
          <a:stretch>
            <a:fillRect/>
          </a:stretch>
        </p:blipFill>
        <p:spPr>
          <a:xfrm>
            <a:off x="2420474" y="4236565"/>
            <a:ext cx="7772400" cy="1977655"/>
          </a:xfrm>
          <a:prstGeom prst="rect">
            <a:avLst/>
          </a:prstGeom>
        </p:spPr>
      </p:pic>
      <p:pic>
        <p:nvPicPr>
          <p:cNvPr id="16" name="Picture 15" descr="Diagram&#10;&#10;Description automatically generated">
            <a:extLst>
              <a:ext uri="{FF2B5EF4-FFF2-40B4-BE49-F238E27FC236}">
                <a16:creationId xmlns:a16="http://schemas.microsoft.com/office/drawing/2014/main" id="{A9E5D090-9170-D84D-C8BC-575832A03C37}"/>
              </a:ext>
            </a:extLst>
          </p:cNvPr>
          <p:cNvPicPr>
            <a:picLocks noChangeAspect="1"/>
          </p:cNvPicPr>
          <p:nvPr/>
        </p:nvPicPr>
        <p:blipFill>
          <a:blip r:embed="rId5"/>
          <a:stretch>
            <a:fillRect/>
          </a:stretch>
        </p:blipFill>
        <p:spPr>
          <a:xfrm>
            <a:off x="8139032" y="6253964"/>
            <a:ext cx="2184400" cy="584200"/>
          </a:xfrm>
          <a:prstGeom prst="rect">
            <a:avLst/>
          </a:prstGeom>
        </p:spPr>
      </p:pic>
      <p:pic>
        <p:nvPicPr>
          <p:cNvPr id="18" name="Picture 17" descr="Text&#10;&#10;Description automatically generated with medium confidence">
            <a:extLst>
              <a:ext uri="{FF2B5EF4-FFF2-40B4-BE49-F238E27FC236}">
                <a16:creationId xmlns:a16="http://schemas.microsoft.com/office/drawing/2014/main" id="{52C73112-820D-C22C-48C3-5F038711D0CC}"/>
              </a:ext>
            </a:extLst>
          </p:cNvPr>
          <p:cNvPicPr>
            <a:picLocks noChangeAspect="1"/>
          </p:cNvPicPr>
          <p:nvPr/>
        </p:nvPicPr>
        <p:blipFill>
          <a:blip r:embed="rId6"/>
          <a:stretch>
            <a:fillRect/>
          </a:stretch>
        </p:blipFill>
        <p:spPr>
          <a:xfrm>
            <a:off x="5589410" y="6204268"/>
            <a:ext cx="1917700" cy="495300"/>
          </a:xfrm>
          <a:prstGeom prst="rect">
            <a:avLst/>
          </a:prstGeom>
        </p:spPr>
      </p:pic>
      <p:pic>
        <p:nvPicPr>
          <p:cNvPr id="20" name="Picture 19" descr="Text&#10;&#10;Description automatically generated">
            <a:extLst>
              <a:ext uri="{FF2B5EF4-FFF2-40B4-BE49-F238E27FC236}">
                <a16:creationId xmlns:a16="http://schemas.microsoft.com/office/drawing/2014/main" id="{689389DC-F9D1-E3A4-266B-BEF1DAEA1360}"/>
              </a:ext>
            </a:extLst>
          </p:cNvPr>
          <p:cNvPicPr>
            <a:picLocks noChangeAspect="1"/>
          </p:cNvPicPr>
          <p:nvPr/>
        </p:nvPicPr>
        <p:blipFill>
          <a:blip r:embed="rId7"/>
          <a:stretch>
            <a:fillRect/>
          </a:stretch>
        </p:blipFill>
        <p:spPr>
          <a:xfrm>
            <a:off x="2917472" y="6245190"/>
            <a:ext cx="1841500" cy="457200"/>
          </a:xfrm>
          <a:prstGeom prst="rect">
            <a:avLst/>
          </a:prstGeom>
        </p:spPr>
      </p:pic>
      <p:sp>
        <p:nvSpPr>
          <p:cNvPr id="21" name="Right Brace 20">
            <a:extLst>
              <a:ext uri="{FF2B5EF4-FFF2-40B4-BE49-F238E27FC236}">
                <a16:creationId xmlns:a16="http://schemas.microsoft.com/office/drawing/2014/main" id="{B73B4EEA-6A3C-B2E7-9A57-B8D0DD3D3600}"/>
              </a:ext>
            </a:extLst>
          </p:cNvPr>
          <p:cNvSpPr/>
          <p:nvPr/>
        </p:nvSpPr>
        <p:spPr>
          <a:xfrm rot="5400000">
            <a:off x="4127387" y="1776358"/>
            <a:ext cx="329452" cy="216279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ight Brace 21">
            <a:extLst>
              <a:ext uri="{FF2B5EF4-FFF2-40B4-BE49-F238E27FC236}">
                <a16:creationId xmlns:a16="http://schemas.microsoft.com/office/drawing/2014/main" id="{E000526D-8CB6-F80C-5E8A-F8EEA6E3DFAC}"/>
              </a:ext>
            </a:extLst>
          </p:cNvPr>
          <p:cNvSpPr/>
          <p:nvPr/>
        </p:nvSpPr>
        <p:spPr>
          <a:xfrm rot="5400000">
            <a:off x="6240532" y="2196170"/>
            <a:ext cx="322873" cy="132975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Right Brace 22">
            <a:extLst>
              <a:ext uri="{FF2B5EF4-FFF2-40B4-BE49-F238E27FC236}">
                <a16:creationId xmlns:a16="http://schemas.microsoft.com/office/drawing/2014/main" id="{F1F0046F-8F84-90F0-65CE-D46AB58656CE}"/>
              </a:ext>
            </a:extLst>
          </p:cNvPr>
          <p:cNvSpPr/>
          <p:nvPr/>
        </p:nvSpPr>
        <p:spPr>
          <a:xfrm rot="16200000">
            <a:off x="9539731" y="1581634"/>
            <a:ext cx="329452" cy="130717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Right Brace 23">
            <a:extLst>
              <a:ext uri="{FF2B5EF4-FFF2-40B4-BE49-F238E27FC236}">
                <a16:creationId xmlns:a16="http://schemas.microsoft.com/office/drawing/2014/main" id="{4F0A6F12-E0A4-F31A-E43E-42A70ECDB80A}"/>
              </a:ext>
            </a:extLst>
          </p:cNvPr>
          <p:cNvSpPr/>
          <p:nvPr/>
        </p:nvSpPr>
        <p:spPr>
          <a:xfrm rot="16200000">
            <a:off x="7858275" y="1608680"/>
            <a:ext cx="322873" cy="122823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78081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descr="Chart&#10;&#10;Description automatically generated">
            <a:extLst>
              <a:ext uri="{FF2B5EF4-FFF2-40B4-BE49-F238E27FC236}">
                <a16:creationId xmlns:a16="http://schemas.microsoft.com/office/drawing/2014/main" id="{4A117FE4-1BF6-E9B4-6639-740B68728536}"/>
              </a:ext>
            </a:extLst>
          </p:cNvPr>
          <p:cNvPicPr>
            <a:picLocks noChangeAspect="1"/>
          </p:cNvPicPr>
          <p:nvPr/>
        </p:nvPicPr>
        <p:blipFill>
          <a:blip r:embed="rId3"/>
          <a:stretch>
            <a:fillRect/>
          </a:stretch>
        </p:blipFill>
        <p:spPr>
          <a:xfrm>
            <a:off x="163686" y="4809066"/>
            <a:ext cx="11797743" cy="1670755"/>
          </a:xfrm>
          <a:prstGeom prst="rect">
            <a:avLst/>
          </a:prstGeom>
        </p:spPr>
      </p:pic>
      <p:sp>
        <p:nvSpPr>
          <p:cNvPr id="14" name="Rectangle 13">
            <a:extLst>
              <a:ext uri="{FF2B5EF4-FFF2-40B4-BE49-F238E27FC236}">
                <a16:creationId xmlns:a16="http://schemas.microsoft.com/office/drawing/2014/main" id="{0BC4AAC7-610D-5563-2CC1-2DFCFB63191A}"/>
              </a:ext>
            </a:extLst>
          </p:cNvPr>
          <p:cNvSpPr/>
          <p:nvPr/>
        </p:nvSpPr>
        <p:spPr>
          <a:xfrm>
            <a:off x="8082844" y="4809067"/>
            <a:ext cx="4030220" cy="1670756"/>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15">
            <a:extLst>
              <a:ext uri="{FF2B5EF4-FFF2-40B4-BE49-F238E27FC236}">
                <a16:creationId xmlns:a16="http://schemas.microsoft.com/office/drawing/2014/main" id="{666D5A4F-E2D7-FC8E-DB86-563AA592A625}"/>
              </a:ext>
            </a:extLst>
          </p:cNvPr>
          <p:cNvSpPr/>
          <p:nvPr/>
        </p:nvSpPr>
        <p:spPr>
          <a:xfrm>
            <a:off x="5842000" y="3556001"/>
            <a:ext cx="508000" cy="7676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B71F7F4-3CB6-029A-7D1B-AC729A62DE50}"/>
              </a:ext>
            </a:extLst>
          </p:cNvPr>
          <p:cNvSpPr txBox="1"/>
          <p:nvPr/>
        </p:nvSpPr>
        <p:spPr>
          <a:xfrm>
            <a:off x="5249334" y="2167466"/>
            <a:ext cx="142507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a:t>Some images</a:t>
            </a:r>
          </a:p>
        </p:txBody>
      </p:sp>
      <p:pic>
        <p:nvPicPr>
          <p:cNvPr id="21" name="Picture 20" descr="Text&#10;&#10;Description automatically generated">
            <a:extLst>
              <a:ext uri="{FF2B5EF4-FFF2-40B4-BE49-F238E27FC236}">
                <a16:creationId xmlns:a16="http://schemas.microsoft.com/office/drawing/2014/main" id="{56B57C36-CE46-8B73-143D-0125BF325EBD}"/>
              </a:ext>
            </a:extLst>
          </p:cNvPr>
          <p:cNvPicPr>
            <a:picLocks noChangeAspect="1"/>
          </p:cNvPicPr>
          <p:nvPr/>
        </p:nvPicPr>
        <p:blipFill>
          <a:blip r:embed="rId4"/>
          <a:stretch>
            <a:fillRect/>
          </a:stretch>
        </p:blipFill>
        <p:spPr>
          <a:xfrm>
            <a:off x="339430" y="3810942"/>
            <a:ext cx="1649626" cy="811858"/>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7295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hart&#10;&#10;Description automatically generated">
            <a:extLst>
              <a:ext uri="{FF2B5EF4-FFF2-40B4-BE49-F238E27FC236}">
                <a16:creationId xmlns:a16="http://schemas.microsoft.com/office/drawing/2014/main" id="{8BB77E83-8557-75E7-4B5F-F27B256EFBEF}"/>
              </a:ext>
            </a:extLst>
          </p:cNvPr>
          <p:cNvPicPr>
            <a:picLocks noChangeAspect="1"/>
          </p:cNvPicPr>
          <p:nvPr/>
        </p:nvPicPr>
        <p:blipFill>
          <a:blip r:embed="rId3"/>
          <a:stretch>
            <a:fillRect/>
          </a:stretch>
        </p:blipFill>
        <p:spPr>
          <a:xfrm>
            <a:off x="714021" y="1599871"/>
            <a:ext cx="6299200" cy="2425700"/>
          </a:xfrm>
          <a:prstGeom prst="rect">
            <a:avLst/>
          </a:prstGeom>
        </p:spPr>
        <p:style>
          <a:lnRef idx="2">
            <a:schemeClr val="dk1"/>
          </a:lnRef>
          <a:fillRef idx="1">
            <a:schemeClr val="lt1"/>
          </a:fillRef>
          <a:effectRef idx="0">
            <a:schemeClr val="dk1"/>
          </a:effectRef>
          <a:fontRef idx="minor">
            <a:schemeClr val="dk1"/>
          </a:fontRef>
        </p:style>
      </p:pic>
      <p:pic>
        <p:nvPicPr>
          <p:cNvPr id="5" name="Picture 4" descr="Chart, line chart&#10;&#10;Description automatically generated">
            <a:extLst>
              <a:ext uri="{FF2B5EF4-FFF2-40B4-BE49-F238E27FC236}">
                <a16:creationId xmlns:a16="http://schemas.microsoft.com/office/drawing/2014/main" id="{FB77598F-170D-33BA-E49C-1A56C3F1D60B}"/>
              </a:ext>
            </a:extLst>
          </p:cNvPr>
          <p:cNvPicPr>
            <a:picLocks noChangeAspect="1"/>
          </p:cNvPicPr>
          <p:nvPr/>
        </p:nvPicPr>
        <p:blipFill rotWithShape="1">
          <a:blip r:embed="rId4"/>
          <a:srcRect r="33224"/>
          <a:stretch/>
        </p:blipFill>
        <p:spPr>
          <a:xfrm>
            <a:off x="4584678" y="4647221"/>
            <a:ext cx="5190110" cy="2062716"/>
          </a:xfrm>
          <a:prstGeom prst="rect">
            <a:avLst/>
          </a:prstGeom>
        </p:spPr>
        <p:style>
          <a:lnRef idx="2">
            <a:schemeClr val="dk1"/>
          </a:lnRef>
          <a:fillRef idx="1">
            <a:schemeClr val="lt1"/>
          </a:fillRef>
          <a:effectRef idx="0">
            <a:schemeClr val="dk1"/>
          </a:effectRef>
          <a:fontRef idx="minor">
            <a:schemeClr val="dk1"/>
          </a:fontRef>
        </p:style>
      </p:pic>
      <p:sp>
        <p:nvSpPr>
          <p:cNvPr id="8" name="Title 1">
            <a:extLst>
              <a:ext uri="{FF2B5EF4-FFF2-40B4-BE49-F238E27FC236}">
                <a16:creationId xmlns:a16="http://schemas.microsoft.com/office/drawing/2014/main" id="{B8D9FFBE-0C04-1A2F-8DD6-4BBC62D00E18}"/>
              </a:ext>
            </a:extLst>
          </p:cNvPr>
          <p:cNvSpPr>
            <a:spLocks noGrp="1"/>
          </p:cNvSpPr>
          <p:nvPr>
            <p:ph type="title"/>
          </p:nvPr>
        </p:nvSpPr>
        <p:spPr>
          <a:xfrm>
            <a:off x="838199" y="148063"/>
            <a:ext cx="11037711" cy="1325563"/>
          </a:xfrm>
        </p:spPr>
        <p:txBody>
          <a:bodyPr>
            <a:normAutofit/>
          </a:bodyPr>
          <a:lstStyle/>
          <a:p>
            <a:r>
              <a:rPr lang="en-US" sz="3200" b="1" dirty="0">
                <a:latin typeface="Arial" panose="020B0604020202020204" pitchFamily="34" charset="0"/>
                <a:cs typeface="Arial" panose="020B0604020202020204" pitchFamily="34" charset="0"/>
              </a:rPr>
              <a:t>Fitting the mathematical model to data from Gemcitabine-exposed 2N and 4N SUM-159 cells</a:t>
            </a:r>
          </a:p>
        </p:txBody>
      </p:sp>
      <p:sp>
        <p:nvSpPr>
          <p:cNvPr id="10" name="TextBox 9">
            <a:extLst>
              <a:ext uri="{FF2B5EF4-FFF2-40B4-BE49-F238E27FC236}">
                <a16:creationId xmlns:a16="http://schemas.microsoft.com/office/drawing/2014/main" id="{1712771A-E4E9-CB35-39E8-812B4F0FE7A9}"/>
              </a:ext>
            </a:extLst>
          </p:cNvPr>
          <p:cNvSpPr txBox="1"/>
          <p:nvPr/>
        </p:nvSpPr>
        <p:spPr>
          <a:xfrm>
            <a:off x="4855612" y="4274200"/>
            <a:ext cx="4759829" cy="338554"/>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rtlCol="0">
            <a:spAutoFit/>
          </a:bodyPr>
          <a:lstStyle/>
          <a:p>
            <a:r>
              <a:rPr lang="en-US" sz="1600" dirty="0"/>
              <a:t>4N cells can access the polyploid state more efficiently:</a:t>
            </a:r>
          </a:p>
        </p:txBody>
      </p:sp>
    </p:spTree>
    <p:extLst>
      <p:ext uri="{BB962C8B-B14F-4D97-AF65-F5344CB8AC3E}">
        <p14:creationId xmlns:p14="http://schemas.microsoft.com/office/powerpoint/2010/main" val="195235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7B758-97CB-94BF-8433-3E4A440DC8F8}"/>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50AAFD09-AB67-BBC8-11D9-D3E5E180EA63}"/>
              </a:ext>
            </a:extLst>
          </p:cNvPr>
          <p:cNvSpPr>
            <a:spLocks noGrp="1"/>
          </p:cNvSpPr>
          <p:nvPr>
            <p:ph idx="1"/>
          </p:nvPr>
        </p:nvSpPr>
        <p:spPr/>
        <p:txBody>
          <a:bodyPr/>
          <a:lstStyle/>
          <a:p>
            <a:r>
              <a:rPr lang="en-US" dirty="0"/>
              <a:t>Model and fit dead cells:</a:t>
            </a:r>
          </a:p>
          <a:p>
            <a:r>
              <a:rPr lang="en-US" dirty="0"/>
              <a:t>Model decay in drug concentration over time</a:t>
            </a:r>
          </a:p>
          <a:p>
            <a:r>
              <a:rPr lang="en-US" dirty="0"/>
              <a:t>Model delay in drug response (</a:t>
            </a:r>
            <a:r>
              <a:rPr lang="en-US" sz="2400" dirty="0"/>
              <a:t>currently first 16 hours excluded from fitting</a:t>
            </a:r>
            <a:r>
              <a:rPr lang="en-US" dirty="0"/>
              <a:t>)</a:t>
            </a:r>
          </a:p>
          <a:p>
            <a:r>
              <a:rPr lang="en-US" dirty="0"/>
              <a:t>Expand to all administered drug concentrations and replicates</a:t>
            </a:r>
          </a:p>
          <a:p>
            <a:r>
              <a:rPr lang="en-US"/>
              <a:t>Model de-polyploidization</a:t>
            </a:r>
            <a:endParaRPr lang="en-US" dirty="0"/>
          </a:p>
          <a:p>
            <a:endParaRPr lang="en-US" dirty="0"/>
          </a:p>
          <a:p>
            <a:endParaRPr lang="en-US" dirty="0"/>
          </a:p>
        </p:txBody>
      </p:sp>
      <p:pic>
        <p:nvPicPr>
          <p:cNvPr id="5" name="Picture 4" descr="A picture containing graphical user interface&#10;&#10;Description automatically generated">
            <a:extLst>
              <a:ext uri="{FF2B5EF4-FFF2-40B4-BE49-F238E27FC236}">
                <a16:creationId xmlns:a16="http://schemas.microsoft.com/office/drawing/2014/main" id="{A8AB21A7-A1B7-800B-CEC6-4EBBEA36322D}"/>
              </a:ext>
            </a:extLst>
          </p:cNvPr>
          <p:cNvPicPr>
            <a:picLocks noChangeAspect="1"/>
          </p:cNvPicPr>
          <p:nvPr/>
        </p:nvPicPr>
        <p:blipFill>
          <a:blip r:embed="rId3"/>
          <a:stretch>
            <a:fillRect/>
          </a:stretch>
        </p:blipFill>
        <p:spPr>
          <a:xfrm>
            <a:off x="4935361" y="1690688"/>
            <a:ext cx="1892300" cy="698500"/>
          </a:xfrm>
          <a:prstGeom prst="rect">
            <a:avLst/>
          </a:prstGeom>
        </p:spPr>
      </p:pic>
    </p:spTree>
    <p:extLst>
      <p:ext uri="{BB962C8B-B14F-4D97-AF65-F5344CB8AC3E}">
        <p14:creationId xmlns:p14="http://schemas.microsoft.com/office/powerpoint/2010/main" val="40419144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36185</TotalTime>
  <Words>863</Words>
  <Application>Microsoft Macintosh PowerPoint</Application>
  <PresentationFormat>Widescreen</PresentationFormat>
  <Paragraphs>57</Paragraphs>
  <Slides>7</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Hypothesis</vt:lpstr>
      <vt:lpstr>Slide about how polyploid normal cells are terminally differentiated</vt:lpstr>
      <vt:lpstr>Slide about how Andriy &amp; Daria obtained 4N SUM-159 cells from 2N cells</vt:lpstr>
      <vt:lpstr>Modeling concentration of cells Pi  that have skipped i rounds of mitosis</vt:lpstr>
      <vt:lpstr>PowerPoint Presentation</vt:lpstr>
      <vt:lpstr>Fitting the mathematical model to data from Gemcitabine-exposed 2N and 4N SUM-159 cells</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Costs and benefits of high ploidy</dc:title>
  <dc:creator>Vural Tagal</dc:creator>
  <cp:lastModifiedBy>Andor, Noemi</cp:lastModifiedBy>
  <cp:revision>41</cp:revision>
  <dcterms:created xsi:type="dcterms:W3CDTF">2022-10-28T13:19:40Z</dcterms:created>
  <dcterms:modified xsi:type="dcterms:W3CDTF">2023-04-27T19:36:25Z</dcterms:modified>
</cp:coreProperties>
</file>